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out by the chair: do not read it again]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This is a connectome: the complete map of every neuron in a brain and every connection between them, traced one synapse at a time. For the adult fruit fly it was finished in twenty twenty-four, and it is the first one ever completed for an adult brain of this size. Everything I will show is computed on that map and on nothing else: no recordings, no experiments, only the wiring. And the question I ask of it is whether the brain funnels its traffic through a few central elements, the way an hourglass does.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Two things before the results. First, every neuron carries a level, from one near the senses to five near the muscles, so the brain has a front-to-back order. Second, a single neuron tells you nothing and a hundred and thirty-four thousand are too many, so I group them: one brain region at one level makes one node. Sixteen hundred nodes remain, and this is the map. Circle size is how many neurons; line thickness is how strong the connection. A motif is a small shape of connections that keeps recurring on this map.</a:t>
            </a:r>
          </a:p>
          <a:p/>
          <a:p>
            <a:r>
              <a:t>[se chiedono perche' la tesi dice 879] Quello e' il conto sulla sola finestra 1-2-3, dove si contano i motif. Qui la mappa e' su tutti e cinque i livelli, e i metanodi sono 1.698.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[40 s]  Now, an hourglass is a claim about shape, and shape can be measured in two different ways. Locally I take one motif at a time and ask how often several regions converge on a single middle one, which then fans out again: that tells me which structures are bottlenecks. Globally I ask the same of the whole network, and that tells me whether there is a bottleneck at all: a hundred and fifty-four neurons cover ninety per cent of the routes, which scores zero point five, against zero point seven-four to eight-seven for the worm C. elegans. Neither view answers the question alone.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Back to the local view. Each motif has two branches, the one entering the middle and the one leaving it. Labelling all four connections at once is useless, because it puts ninety-four per cent of the motifs into a single bucket. So I label the two branches separately: each can run deeper, run back towards the senses, stay level, or be mixed. Four by four gives sixteen signatures.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  And this is the main local result. I compare the shallow part of the brain with the deep part. Near the senses the flow runs forward, as you would expect. Deep down it flips: signatures with a sideways branch go from thirty-eight per cent to eighty-three per cent of the traffic. The deep brain is not pushing the signal onwards. It is stirring it in place.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  Do the two views agree? Out of six hundred and sixty regions, both put the same four near the top, and all four sit on the olfactory pathway. Overall the agreement is weak, so I am not claiming the two measures are interchangeable. But where they do agree, they agree on something that matters.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  Which is the last result. So far every motif had the same number of branches in and out. Letting those vary gives an index that is negative when a circuit fans out and positive when it funnels in, computed from the wiring only. I applied it to the olfactory pathway because it is the one circuit whose answer was already known from physiology, so it is a test I could fail. I picked the five rows by anatomy, before looking at any numbers. The index comes out negative where the circuit expands and at the maximum where it compresses: the textbook description, recovered from the wiring alone.</a:t>
            </a:r>
          </a:p>
          <a:p/>
          <a:p>
            <a:r>
              <a:t>[if asked about artificial neural networks] The shape is that of a high-dimensional expansion followed by a readout, but that is a reading: the thesis does not make the comparison.</a:t>
            </a:r>
          </a:p>
          <a:p>
            <a:r>
              <a:t>[if asked how general it is] It is validated on one circuit only, the one where the answer was already known. The other seven hundred nodes carry index values too, but nothing here establishes that those are equally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  To sum up. The hourglass is there, but how narrow it looks depends on how you trace the routes. Deep in the brain the signal stops advancing and is stirred instead. And an index built from wiring alone recovers a circuit already known from physiology. I also tested whether a connection's direction predicts its chemistry: it does not hold up, and I report it as a negative result. The method does not depend on the species.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56032"/>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logo.png"/>
          <p:cNvPicPr>
            <a:picLocks noChangeAspect="1"/>
          </p:cNvPicPr>
          <p:nvPr/>
        </p:nvPicPr>
        <p:blipFill>
          <a:blip r:embed="rId2"/>
          <a:stretch>
            <a:fillRect/>
          </a:stretch>
        </p:blipFill>
        <p:spPr>
          <a:xfrm>
            <a:off x="10573207" y="658368"/>
            <a:ext cx="960120" cy="960120"/>
          </a:xfrm>
          <a:prstGeom prst="rect">
            <a:avLst/>
          </a:prstGeom>
        </p:spPr>
      </p:pic>
      <p:sp>
        <p:nvSpPr>
          <p:cNvPr id="4" name="TextBox 3"/>
          <p:cNvSpPr txBox="1"/>
          <p:nvPr/>
        </p:nvSpPr>
        <p:spPr>
          <a:xfrm>
            <a:off x="658368" y="1874519"/>
            <a:ext cx="9594799" cy="1828800"/>
          </a:xfrm>
          <a:prstGeom prst="rect">
            <a:avLst/>
          </a:prstGeom>
          <a:noFill/>
        </p:spPr>
        <p:txBody>
          <a:bodyPr wrap="square" anchor="t" lIns="0" rIns="0" tIns="0" bIns="0">
            <a:spAutoFit/>
          </a:bodyPr>
          <a:lstStyle/>
          <a:p>
            <a:pPr algn="l">
              <a:lnSpc>
                <a:spcPct val="118000"/>
              </a:lnSpc>
              <a:spcAft>
                <a:spcPts val="200"/>
              </a:spcAft>
            </a:pPr>
            <a:r>
              <a:rPr sz="3000" i="0" b="0">
                <a:solidFill>
                  <a:srgbClr val="1A1A1A"/>
                </a:solidFill>
                <a:latin typeface="Calibri"/>
              </a:rPr>
              <a:t>Bow-Tie Architecture in the</a:t>
            </a:r>
          </a:p>
          <a:p>
            <a:pPr algn="l">
              <a:lnSpc>
                <a:spcPct val="118000"/>
              </a:lnSpc>
              <a:spcAft>
                <a:spcPts val="200"/>
              </a:spcAft>
            </a:pPr>
            <a:r>
              <a:rPr sz="3000" i="1" b="0">
                <a:solidFill>
                  <a:srgbClr val="1A1A1A"/>
                </a:solidFill>
                <a:latin typeface="Calibri"/>
              </a:rPr>
              <a:t>Drosophila melanogaster Connectome</a:t>
            </a:r>
          </a:p>
          <a:p>
            <a:pPr algn="l">
              <a:lnSpc>
                <a:spcPct val="118000"/>
              </a:lnSpc>
              <a:spcAft>
                <a:spcPts val="0"/>
              </a:spcAft>
            </a:pPr>
            <a:r>
              <a:rPr sz="3000" i="0" b="1">
                <a:solidFill>
                  <a:srgbClr val="B61918"/>
                </a:solidFill>
                <a:latin typeface="Calibri"/>
              </a:rPr>
              <a:t>A Two-Scale Structural Analysis</a:t>
            </a:r>
          </a:p>
        </p:txBody>
      </p:sp>
      <p:sp>
        <p:nvSpPr>
          <p:cNvPr id="5" name="Rectangle 4"/>
          <p:cNvSpPr/>
          <p:nvPr/>
        </p:nvSpPr>
        <p:spPr>
          <a:xfrm>
            <a:off x="658368" y="4041648"/>
            <a:ext cx="2834640" cy="411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8368" y="4370832"/>
            <a:ext cx="5486400" cy="1463040"/>
          </a:xfrm>
          <a:prstGeom prst="rect">
            <a:avLst/>
          </a:prstGeom>
          <a:noFill/>
        </p:spPr>
        <p:txBody>
          <a:bodyPr wrap="square" anchor="t" lIns="0" rIns="0" tIns="0" bIns="0">
            <a:spAutoFit/>
          </a:bodyPr>
          <a:lstStyle/>
          <a:p>
            <a:pPr algn="l">
              <a:lnSpc>
                <a:spcPct val="118000"/>
              </a:lnSpc>
              <a:spcAft>
                <a:spcPts val="100"/>
              </a:spcAft>
            </a:pPr>
            <a:r>
              <a:rPr sz="1300" i="0" b="0">
                <a:solidFill>
                  <a:srgbClr val="9E9E9D"/>
                </a:solidFill>
                <a:latin typeface="Calibri"/>
              </a:rPr>
              <a:t>Candidate</a:t>
            </a:r>
          </a:p>
          <a:p>
            <a:pPr algn="l">
              <a:lnSpc>
                <a:spcPct val="118000"/>
              </a:lnSpc>
              <a:spcAft>
                <a:spcPts val="1200"/>
              </a:spcAft>
            </a:pPr>
            <a:r>
              <a:rPr sz="1700" i="0" b="0">
                <a:solidFill>
                  <a:srgbClr val="1A1A1A"/>
                </a:solidFill>
                <a:latin typeface="Calibri"/>
              </a:rPr>
              <a:t>Federico Di Franco — student ID 263678</a:t>
            </a:r>
          </a:p>
          <a:p>
            <a:pPr algn="l">
              <a:lnSpc>
                <a:spcPct val="118000"/>
              </a:lnSpc>
              <a:spcAft>
                <a:spcPts val="100"/>
              </a:spcAft>
            </a:pPr>
            <a:r>
              <a:rPr sz="1300" i="0" b="0">
                <a:solidFill>
                  <a:srgbClr val="9E9E9D"/>
                </a:solidFill>
                <a:latin typeface="Calibri"/>
              </a:rPr>
              <a:t>Supervisor</a:t>
            </a:r>
          </a:p>
          <a:p>
            <a:pPr algn="l">
              <a:lnSpc>
                <a:spcPct val="118000"/>
              </a:lnSpc>
              <a:spcAft>
                <a:spcPts val="1000"/>
              </a:spcAft>
            </a:pPr>
            <a:r>
              <a:rPr sz="1700" i="0" b="0">
                <a:solidFill>
                  <a:srgbClr val="1A1A1A"/>
                </a:solidFill>
                <a:latin typeface="Calibri"/>
              </a:rPr>
              <a:t>Prof. Giorgio Terracina</a:t>
            </a:r>
          </a:p>
        </p:txBody>
      </p:sp>
      <p:sp>
        <p:nvSpPr>
          <p:cNvPr id="7" name="TextBox 6"/>
          <p:cNvSpPr txBox="1"/>
          <p:nvPr/>
        </p:nvSpPr>
        <p:spPr>
          <a:xfrm>
            <a:off x="7875727" y="5943600"/>
            <a:ext cx="3657600" cy="365760"/>
          </a:xfrm>
          <a:prstGeom prst="rect">
            <a:avLst/>
          </a:prstGeom>
          <a:noFill/>
        </p:spPr>
        <p:txBody>
          <a:bodyPr wrap="square" anchor="t" lIns="0" rIns="0" tIns="0" bIns="0">
            <a:spAutoFit/>
          </a:bodyPr>
          <a:lstStyle/>
          <a:p>
            <a:pPr algn="r">
              <a:lnSpc>
                <a:spcPct val="118000"/>
              </a:lnSpc>
              <a:spcAft>
                <a:spcPts val="1000"/>
              </a:spcAft>
            </a:pPr>
            <a:r>
              <a:rPr sz="1300" i="0" b="0">
                <a:solidFill>
                  <a:srgbClr val="9E9E9D"/>
                </a:solidFill>
                <a:latin typeface="Calibri"/>
              </a:rPr>
              <a:t>Academic Year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731520"/>
          </a:xfrm>
          <a:prstGeom prst="rect">
            <a:avLst/>
          </a:prstGeom>
          <a:noFill/>
        </p:spPr>
        <p:txBody>
          <a:bodyPr wrap="square" anchor="t" lIns="0" rIns="0" tIns="0" bIns="0">
            <a:spAutoFit/>
          </a:bodyPr>
          <a:lstStyle/>
          <a:p>
            <a:pPr algn="l">
              <a:lnSpc>
                <a:spcPct val="118000"/>
              </a:lnSpc>
              <a:spcAft>
                <a:spcPts val="1000"/>
              </a:spcAft>
            </a:pPr>
            <a:r>
              <a:rPr sz="3000" i="0" b="1">
                <a:solidFill>
                  <a:srgbClr val="B61918"/>
                </a:solidFill>
                <a:latin typeface="Calibri"/>
              </a:rPr>
              <a:t>A connectome, and the question I ask of it</a:t>
            </a:r>
          </a:p>
        </p:txBody>
      </p:sp>
      <p:sp>
        <p:nvSpPr>
          <p:cNvPr id="3" name="Rectangle 2"/>
          <p:cNvSpPr/>
          <p:nvPr/>
        </p:nvSpPr>
        <p:spPr>
          <a:xfrm>
            <a:off x="658368" y="1207008"/>
            <a:ext cx="2194560" cy="411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2852928" y="1207008"/>
            <a:ext cx="8680399" cy="41148"/>
          </a:xfrm>
          <a:prstGeom prst="rect">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36047" y="6291072"/>
            <a:ext cx="1097280" cy="320040"/>
          </a:xfrm>
          <a:prstGeom prst="rect">
            <a:avLst/>
          </a:prstGeom>
          <a:noFill/>
        </p:spPr>
        <p:txBody>
          <a:bodyPr wrap="square" anchor="t" lIns="0" rIns="0" tIns="0" bIns="0">
            <a:spAutoFit/>
          </a:bodyPr>
          <a:lstStyle/>
          <a:p>
            <a:pPr algn="r">
              <a:lnSpc>
                <a:spcPct val="118000"/>
              </a:lnSpc>
              <a:spcAft>
                <a:spcPts val="1000"/>
              </a:spcAft>
            </a:pPr>
            <a:r>
              <a:rPr sz="1200" i="0" b="0">
                <a:solidFill>
                  <a:srgbClr val="9E9E9D"/>
                </a:solidFill>
                <a:latin typeface="Calibri"/>
              </a:rPr>
              <a:t>1</a:t>
            </a:r>
          </a:p>
        </p:txBody>
      </p:sp>
      <p:pic>
        <p:nvPicPr>
          <p:cNvPr id="6" name="Picture 5" descr="connectome.png"/>
          <p:cNvPicPr>
            <a:picLocks noChangeAspect="1"/>
          </p:cNvPicPr>
          <p:nvPr/>
        </p:nvPicPr>
        <p:blipFill>
          <a:blip r:embed="rId2"/>
          <a:stretch>
            <a:fillRect/>
          </a:stretch>
        </p:blipFill>
        <p:spPr>
          <a:xfrm>
            <a:off x="658368" y="1984621"/>
            <a:ext cx="6172200" cy="3309380"/>
          </a:xfrm>
          <a:prstGeom prst="rect">
            <a:avLst/>
          </a:prstGeom>
        </p:spPr>
      </p:pic>
      <p:sp>
        <p:nvSpPr>
          <p:cNvPr id="7" name="TextBox 6"/>
          <p:cNvSpPr txBox="1"/>
          <p:nvPr/>
        </p:nvSpPr>
        <p:spPr>
          <a:xfrm>
            <a:off x="7013448" y="1399032"/>
            <a:ext cx="4519879" cy="4754880"/>
          </a:xfrm>
          <a:prstGeom prst="rect">
            <a:avLst/>
          </a:prstGeom>
          <a:noFill/>
        </p:spPr>
        <p:txBody>
          <a:bodyPr wrap="square" anchor="t" lIns="0" rIns="0" tIns="0" bIns="0">
            <a:spAutoFit/>
          </a:bodyPr>
          <a:lstStyle/>
          <a:p>
            <a:pPr algn="l">
              <a:lnSpc>
                <a:spcPct val="118000"/>
              </a:lnSpc>
              <a:spcAft>
                <a:spcPts val="1600"/>
              </a:spcAft>
            </a:pPr>
            <a:r>
              <a:rPr sz="1900" i="0" b="0">
                <a:solidFill>
                  <a:srgbClr val="1A1A1A"/>
                </a:solidFill>
                <a:latin typeface="Calibri"/>
              </a:rPr>
              <a:t>A </a:t>
            </a:r>
            <a:r>
              <a:rPr sz="1900" i="0" b="1">
                <a:solidFill>
                  <a:srgbClr val="B61918"/>
                </a:solidFill>
                <a:latin typeface="Calibri"/>
              </a:rPr>
              <a:t>connectome</a:t>
            </a:r>
            <a:r>
              <a:rPr sz="1900" i="0" b="0">
                <a:solidFill>
                  <a:srgbClr val="1A1A1A"/>
                </a:solidFill>
                <a:latin typeface="Calibri"/>
              </a:rPr>
              <a:t> is the complete map of a brain: every neuron, and every connection between them, traced one synapse at a time.</a:t>
            </a:r>
          </a:p>
          <a:p>
            <a:pPr algn="l">
              <a:lnSpc>
                <a:spcPct val="118000"/>
              </a:lnSpc>
              <a:spcAft>
                <a:spcPts val="1800"/>
              </a:spcAft>
            </a:pPr>
            <a:r>
              <a:rPr sz="1900" i="0" b="0">
                <a:solidFill>
                  <a:srgbClr val="1A1A1A"/>
                </a:solidFill>
                <a:latin typeface="Calibri"/>
              </a:rPr>
              <a:t>For the adult fruit fly it was finished in </a:t>
            </a:r>
            <a:r>
              <a:rPr sz="1900" i="0" b="1">
                <a:solidFill>
                  <a:srgbClr val="B61918"/>
                </a:solidFill>
                <a:latin typeface="Calibri"/>
              </a:rPr>
              <a:t>2024</a:t>
            </a:r>
            <a:r>
              <a:rPr sz="1900" i="0" b="0">
                <a:solidFill>
                  <a:srgbClr val="1A1A1A"/>
                </a:solidFill>
                <a:latin typeface="Calibri"/>
              </a:rPr>
              <a:t> — the first ever for an adult brain of this size.</a:t>
            </a:r>
          </a:p>
          <a:p>
            <a:pPr algn="l">
              <a:lnSpc>
                <a:spcPct val="118000"/>
              </a:lnSpc>
              <a:spcAft>
                <a:spcPts val="1800"/>
              </a:spcAft>
            </a:pPr>
            <a:r>
              <a:rPr sz="2100" i="0" b="1">
                <a:solidFill>
                  <a:srgbClr val="B61918"/>
                </a:solidFill>
                <a:latin typeface="Calibri"/>
              </a:rPr>
              <a:t>134,181 neurons     2,700,513 connections</a:t>
            </a:r>
          </a:p>
          <a:p>
            <a:pPr algn="l">
              <a:lnSpc>
                <a:spcPct val="118000"/>
              </a:lnSpc>
              <a:spcAft>
                <a:spcPts val="2000"/>
              </a:spcAft>
            </a:pPr>
            <a:r>
              <a:rPr sz="1800" i="0" b="0">
                <a:solidFill>
                  <a:srgbClr val="1A1A1A"/>
                </a:solidFill>
                <a:latin typeface="Calibri"/>
              </a:rPr>
              <a:t>Everything here is computed on that map and </a:t>
            </a:r>
            <a:r>
              <a:rPr sz="1800" i="0" b="1">
                <a:solidFill>
                  <a:srgbClr val="B61918"/>
                </a:solidFill>
                <a:latin typeface="Calibri"/>
              </a:rPr>
              <a:t>nothing else</a:t>
            </a:r>
            <a:r>
              <a:rPr sz="1800" i="0" b="0">
                <a:solidFill>
                  <a:srgbClr val="1A1A1A"/>
                </a:solidFill>
                <a:latin typeface="Calibri"/>
              </a:rPr>
              <a:t>: no experiments, only the wiring.</a:t>
            </a:r>
          </a:p>
          <a:p>
            <a:pPr algn="l">
              <a:lnSpc>
                <a:spcPct val="118000"/>
              </a:lnSpc>
              <a:spcAft>
                <a:spcPts val="1000"/>
              </a:spcAft>
            </a:pPr>
            <a:r>
              <a:rPr sz="1900" i="0" b="0">
                <a:solidFill>
                  <a:srgbClr val="1A1A1A"/>
                </a:solidFill>
                <a:latin typeface="Calibri"/>
              </a:rPr>
              <a:t>The question: does the brain funnel its traffic through </a:t>
            </a:r>
            <a:r>
              <a:rPr sz="1900" i="0" b="1">
                <a:solidFill>
                  <a:srgbClr val="B61918"/>
                </a:solidFill>
                <a:latin typeface="Calibri"/>
              </a:rPr>
              <a:t>a few central elements</a:t>
            </a:r>
            <a:r>
              <a:rPr sz="1900" i="0" b="0">
                <a:solidFill>
                  <a:srgbClr val="1A1A1A"/>
                </a:solidFill>
                <a:latin typeface="Calibri"/>
              </a:rPr>
              <a:t>, the way an </a:t>
            </a:r>
            <a:r>
              <a:rPr sz="1900" i="0" b="1">
                <a:solidFill>
                  <a:srgbClr val="B61918"/>
                </a:solidFill>
                <a:latin typeface="Calibri"/>
              </a:rPr>
              <a:t>hourglass</a:t>
            </a:r>
            <a:r>
              <a:rPr sz="1900" i="0" b="0">
                <a:solidFill>
                  <a:srgbClr val="1A1A1A"/>
                </a:solidFill>
                <a:latin typeface="Calibri"/>
              </a:rPr>
              <a:t> does?</a:t>
            </a:r>
          </a:p>
        </p:txBody>
      </p:sp>
      <p:sp>
        <p:nvSpPr>
          <p:cNvPr id="8" name="TextBox 7"/>
          <p:cNvSpPr txBox="1"/>
          <p:nvPr/>
        </p:nvSpPr>
        <p:spPr>
          <a:xfrm>
            <a:off x="658368" y="6291072"/>
            <a:ext cx="6172200" cy="320040"/>
          </a:xfrm>
          <a:prstGeom prst="rect">
            <a:avLst/>
          </a:prstGeom>
          <a:noFill/>
        </p:spPr>
        <p:txBody>
          <a:bodyPr wrap="square" anchor="t" lIns="0" rIns="0" tIns="0" bIns="0">
            <a:spAutoFit/>
          </a:bodyPr>
          <a:lstStyle/>
          <a:p>
            <a:pPr algn="l">
              <a:lnSpc>
                <a:spcPct val="118000"/>
              </a:lnSpc>
              <a:spcAft>
                <a:spcPts val="1000"/>
              </a:spcAft>
            </a:pPr>
            <a:r>
              <a:rPr sz="1100" i="1" b="0">
                <a:solidFill>
                  <a:srgbClr val="9E9E9D"/>
                </a:solidFill>
                <a:latin typeface="Calibri"/>
              </a:rPr>
              <a:t>rendering: the 50 largest neurons — FlyWire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731520"/>
          </a:xfrm>
          <a:prstGeom prst="rect">
            <a:avLst/>
          </a:prstGeom>
          <a:noFill/>
        </p:spPr>
        <p:txBody>
          <a:bodyPr wrap="square" anchor="t" lIns="0" rIns="0" tIns="0" bIns="0">
            <a:spAutoFit/>
          </a:bodyPr>
          <a:lstStyle/>
          <a:p>
            <a:pPr algn="l">
              <a:lnSpc>
                <a:spcPct val="118000"/>
              </a:lnSpc>
              <a:spcAft>
                <a:spcPts val="1000"/>
              </a:spcAft>
            </a:pPr>
            <a:r>
              <a:rPr sz="3000" i="0" b="1">
                <a:solidFill>
                  <a:srgbClr val="B61918"/>
                </a:solidFill>
                <a:latin typeface="Calibri"/>
              </a:rPr>
              <a:t>The map I work on</a:t>
            </a:r>
          </a:p>
        </p:txBody>
      </p:sp>
      <p:sp>
        <p:nvSpPr>
          <p:cNvPr id="3" name="Rectangle 2"/>
          <p:cNvSpPr/>
          <p:nvPr/>
        </p:nvSpPr>
        <p:spPr>
          <a:xfrm>
            <a:off x="658368" y="1207008"/>
            <a:ext cx="2194560" cy="411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2852928" y="1207008"/>
            <a:ext cx="8680399" cy="41148"/>
          </a:xfrm>
          <a:prstGeom prst="rect">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36047" y="6291072"/>
            <a:ext cx="1097280" cy="320040"/>
          </a:xfrm>
          <a:prstGeom prst="rect">
            <a:avLst/>
          </a:prstGeom>
          <a:noFill/>
        </p:spPr>
        <p:txBody>
          <a:bodyPr wrap="square" anchor="t" lIns="0" rIns="0" tIns="0" bIns="0">
            <a:spAutoFit/>
          </a:bodyPr>
          <a:lstStyle/>
          <a:p>
            <a:pPr algn="r">
              <a:lnSpc>
                <a:spcPct val="118000"/>
              </a:lnSpc>
              <a:spcAft>
                <a:spcPts val="1000"/>
              </a:spcAft>
            </a:pPr>
            <a:r>
              <a:rPr sz="1200" i="0" b="0">
                <a:solidFill>
                  <a:srgbClr val="9E9E9D"/>
                </a:solidFill>
                <a:latin typeface="Calibri"/>
              </a:rPr>
              <a:t>2</a:t>
            </a:r>
          </a:p>
        </p:txBody>
      </p:sp>
      <p:pic>
        <p:nvPicPr>
          <p:cNvPr id="6" name="Picture 5" descr="metagraph_slide.png"/>
          <p:cNvPicPr>
            <a:picLocks noChangeAspect="1"/>
          </p:cNvPicPr>
          <p:nvPr/>
        </p:nvPicPr>
        <p:blipFill>
          <a:blip r:embed="rId2"/>
          <a:stretch>
            <a:fillRect/>
          </a:stretch>
        </p:blipFill>
        <p:spPr>
          <a:xfrm>
            <a:off x="658368" y="1797545"/>
            <a:ext cx="6492240" cy="3957852"/>
          </a:xfrm>
          <a:prstGeom prst="rect">
            <a:avLst/>
          </a:prstGeom>
        </p:spPr>
      </p:pic>
      <p:sp>
        <p:nvSpPr>
          <p:cNvPr id="7" name="TextBox 6"/>
          <p:cNvSpPr txBox="1"/>
          <p:nvPr/>
        </p:nvSpPr>
        <p:spPr>
          <a:xfrm>
            <a:off x="7379208" y="1764792"/>
            <a:ext cx="4154119" cy="4206240"/>
          </a:xfrm>
          <a:prstGeom prst="rect">
            <a:avLst/>
          </a:prstGeom>
          <a:noFill/>
        </p:spPr>
        <p:txBody>
          <a:bodyPr wrap="square" anchor="t" lIns="0" rIns="0" tIns="0" bIns="0">
            <a:spAutoFit/>
          </a:bodyPr>
          <a:lstStyle/>
          <a:p>
            <a:pPr algn="l">
              <a:lnSpc>
                <a:spcPct val="118000"/>
              </a:lnSpc>
              <a:spcAft>
                <a:spcPts val="1800"/>
              </a:spcAft>
            </a:pPr>
            <a:r>
              <a:rPr sz="1900" i="0" b="0">
                <a:solidFill>
                  <a:srgbClr val="1A1A1A"/>
                </a:solidFill>
                <a:latin typeface="Calibri"/>
              </a:rPr>
              <a:t>Every neuron carries a </a:t>
            </a:r>
            <a:r>
              <a:rPr sz="1900" i="0" b="1">
                <a:solidFill>
                  <a:srgbClr val="B61918"/>
                </a:solidFill>
                <a:latin typeface="Calibri"/>
              </a:rPr>
              <a:t>level</a:t>
            </a:r>
            <a:r>
              <a:rPr sz="1900" i="0" b="0">
                <a:solidFill>
                  <a:srgbClr val="1A1A1A"/>
                </a:solidFill>
                <a:latin typeface="Calibri"/>
              </a:rPr>
              <a:t>, from 1 near the senses to 5 near the muscles.</a:t>
            </a:r>
          </a:p>
          <a:p>
            <a:pPr algn="l">
              <a:lnSpc>
                <a:spcPct val="118000"/>
              </a:lnSpc>
              <a:spcAft>
                <a:spcPts val="1800"/>
              </a:spcAft>
            </a:pPr>
            <a:r>
              <a:rPr sz="1900" i="0" b="0">
                <a:solidFill>
                  <a:srgbClr val="1A1A1A"/>
                </a:solidFill>
                <a:latin typeface="Calibri"/>
              </a:rPr>
              <a:t>One brain region at one level makes one node: </a:t>
            </a:r>
            <a:r>
              <a:rPr sz="1900" i="0" b="1">
                <a:solidFill>
                  <a:srgbClr val="B61918"/>
                </a:solidFill>
                <a:latin typeface="Calibri"/>
              </a:rPr>
              <a:t>1,698 nodes</a:t>
            </a:r>
            <a:r>
              <a:rPr sz="1900" i="0" b="0">
                <a:solidFill>
                  <a:srgbClr val="1A1A1A"/>
                </a:solidFill>
                <a:latin typeface="Calibri"/>
              </a:rPr>
              <a:t> instead of 134,181 neurons.</a:t>
            </a:r>
          </a:p>
          <a:p>
            <a:pPr algn="l">
              <a:lnSpc>
                <a:spcPct val="118000"/>
              </a:lnSpc>
              <a:spcAft>
                <a:spcPts val="2200"/>
              </a:spcAft>
            </a:pPr>
            <a:r>
              <a:rPr sz="1900" i="0" b="0">
                <a:solidFill>
                  <a:srgbClr val="1A1A1A"/>
                </a:solidFill>
                <a:latin typeface="Calibri"/>
              </a:rPr>
              <a:t>A </a:t>
            </a:r>
            <a:r>
              <a:rPr sz="1900" i="0" b="1">
                <a:solidFill>
                  <a:srgbClr val="B61918"/>
                </a:solidFill>
                <a:latin typeface="Calibri"/>
              </a:rPr>
              <a:t>motif</a:t>
            </a:r>
            <a:r>
              <a:rPr sz="1900" i="0" b="0">
                <a:solidFill>
                  <a:srgbClr val="1A1A1A"/>
                </a:solidFill>
                <a:latin typeface="Calibri"/>
              </a:rPr>
              <a:t> is a small shape of connections that keeps recurring between those nodes.</a:t>
            </a:r>
          </a:p>
          <a:p>
            <a:pPr algn="l">
              <a:lnSpc>
                <a:spcPct val="118000"/>
              </a:lnSpc>
              <a:spcAft>
                <a:spcPts val="1000"/>
              </a:spcAft>
            </a:pPr>
            <a:r>
              <a:rPr sz="1600" i="0" b="0">
                <a:solidFill>
                  <a:srgbClr val="555D66"/>
                </a:solidFill>
                <a:latin typeface="Calibri"/>
              </a:rPr>
              <a:t>Circle size is how many neurons; line thickness is how strong the connection.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731520"/>
          </a:xfrm>
          <a:prstGeom prst="rect">
            <a:avLst/>
          </a:prstGeom>
          <a:noFill/>
        </p:spPr>
        <p:txBody>
          <a:bodyPr wrap="square" anchor="t" lIns="0" rIns="0" tIns="0" bIns="0">
            <a:spAutoFit/>
          </a:bodyPr>
          <a:lstStyle/>
          <a:p>
            <a:pPr algn="l">
              <a:lnSpc>
                <a:spcPct val="118000"/>
              </a:lnSpc>
              <a:spcAft>
                <a:spcPts val="1000"/>
              </a:spcAft>
            </a:pPr>
            <a:r>
              <a:rPr sz="3000" i="0" b="1">
                <a:solidFill>
                  <a:srgbClr val="B61918"/>
                </a:solidFill>
                <a:latin typeface="Calibri"/>
              </a:rPr>
              <a:t>Two ways to measure the same shape</a:t>
            </a:r>
          </a:p>
        </p:txBody>
      </p:sp>
      <p:sp>
        <p:nvSpPr>
          <p:cNvPr id="3" name="Rectangle 2"/>
          <p:cNvSpPr/>
          <p:nvPr/>
        </p:nvSpPr>
        <p:spPr>
          <a:xfrm>
            <a:off x="658368" y="1207008"/>
            <a:ext cx="2194560" cy="411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2852928" y="1207008"/>
            <a:ext cx="8680399" cy="41148"/>
          </a:xfrm>
          <a:prstGeom prst="rect">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36047" y="6291072"/>
            <a:ext cx="1097280" cy="320040"/>
          </a:xfrm>
          <a:prstGeom prst="rect">
            <a:avLst/>
          </a:prstGeom>
          <a:noFill/>
        </p:spPr>
        <p:txBody>
          <a:bodyPr wrap="square" anchor="t" lIns="0" rIns="0" tIns="0" bIns="0">
            <a:spAutoFit/>
          </a:bodyPr>
          <a:lstStyle/>
          <a:p>
            <a:pPr algn="r">
              <a:lnSpc>
                <a:spcPct val="118000"/>
              </a:lnSpc>
              <a:spcAft>
                <a:spcPts val="1000"/>
              </a:spcAft>
            </a:pPr>
            <a:r>
              <a:rPr sz="1200" i="0" b="0">
                <a:solidFill>
                  <a:srgbClr val="9E9E9D"/>
                </a:solidFill>
                <a:latin typeface="Calibri"/>
              </a:rPr>
              <a:t>3</a:t>
            </a:r>
          </a:p>
        </p:txBody>
      </p:sp>
      <p:sp>
        <p:nvSpPr>
          <p:cNvPr id="6" name="TextBox 5"/>
          <p:cNvSpPr txBox="1"/>
          <p:nvPr/>
        </p:nvSpPr>
        <p:spPr>
          <a:xfrm>
            <a:off x="658368" y="1389888"/>
            <a:ext cx="10874959" cy="457200"/>
          </a:xfrm>
          <a:prstGeom prst="rect">
            <a:avLst/>
          </a:prstGeom>
          <a:noFill/>
        </p:spPr>
        <p:txBody>
          <a:bodyPr wrap="square" anchor="t" lIns="0" rIns="0" tIns="0" bIns="0">
            <a:spAutoFit/>
          </a:bodyPr>
          <a:lstStyle/>
          <a:p>
            <a:pPr algn="l">
              <a:lnSpc>
                <a:spcPct val="118000"/>
              </a:lnSpc>
              <a:spcAft>
                <a:spcPts val="1000"/>
              </a:spcAft>
            </a:pPr>
            <a:r>
              <a:rPr sz="1900" i="0" b="0">
                <a:solidFill>
                  <a:srgbClr val="1A1A1A"/>
                </a:solidFill>
                <a:latin typeface="Calibri"/>
              </a:rPr>
              <a:t>“Hourglass” is a claim about </a:t>
            </a:r>
            <a:r>
              <a:rPr sz="1900" i="0" b="1">
                <a:solidFill>
                  <a:srgbClr val="B61918"/>
                </a:solidFill>
                <a:latin typeface="Calibri"/>
              </a:rPr>
              <a:t>shape</a:t>
            </a:r>
            <a:r>
              <a:rPr sz="1900" i="0" b="0">
                <a:solidFill>
                  <a:srgbClr val="1A1A1A"/>
                </a:solidFill>
                <a:latin typeface="Calibri"/>
              </a:rPr>
              <a:t>, and shape can be measured from two distances. </a:t>
            </a:r>
            <a:r>
              <a:rPr sz="1900" i="0" b="1">
                <a:solidFill>
                  <a:srgbClr val="B61918"/>
                </a:solidFill>
                <a:latin typeface="Calibri"/>
              </a:rPr>
              <a:t>Neither one answers the question alone.</a:t>
            </a:r>
          </a:p>
        </p:txBody>
      </p:sp>
      <p:sp>
        <p:nvSpPr>
          <p:cNvPr id="7" name="Rectangle 6"/>
          <p:cNvSpPr/>
          <p:nvPr/>
        </p:nvSpPr>
        <p:spPr>
          <a:xfrm>
            <a:off x="658368" y="2103120"/>
            <a:ext cx="5094579" cy="475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8368" y="2267712"/>
            <a:ext cx="5094579" cy="384048"/>
          </a:xfrm>
          <a:prstGeom prst="rect">
            <a:avLst/>
          </a:prstGeom>
          <a:noFill/>
        </p:spPr>
        <p:txBody>
          <a:bodyPr wrap="square" anchor="t" lIns="0" rIns="0" tIns="0" bIns="0">
            <a:spAutoFit/>
          </a:bodyPr>
          <a:lstStyle/>
          <a:p>
            <a:pPr algn="l">
              <a:lnSpc>
                <a:spcPct val="118000"/>
              </a:lnSpc>
              <a:spcAft>
                <a:spcPts val="1000"/>
              </a:spcAft>
            </a:pPr>
            <a:r>
              <a:rPr sz="1900" i="0" b="1">
                <a:solidFill>
                  <a:srgbClr val="B61918"/>
                </a:solidFill>
                <a:latin typeface="Calibri"/>
              </a:rPr>
              <a:t>Close up — one motif at a time</a:t>
            </a:r>
          </a:p>
        </p:txBody>
      </p:sp>
      <p:sp>
        <p:nvSpPr>
          <p:cNvPr id="9" name="TextBox 8"/>
          <p:cNvSpPr txBox="1"/>
          <p:nvPr/>
        </p:nvSpPr>
        <p:spPr>
          <a:xfrm>
            <a:off x="658368" y="2761487"/>
            <a:ext cx="5094579" cy="914400"/>
          </a:xfrm>
          <a:prstGeom prst="rect">
            <a:avLst/>
          </a:prstGeom>
          <a:noFill/>
        </p:spPr>
        <p:txBody>
          <a:bodyPr wrap="square" anchor="t" lIns="0" rIns="0" tIns="0" bIns="0">
            <a:spAutoFit/>
          </a:bodyPr>
          <a:lstStyle/>
          <a:p>
            <a:pPr algn="l">
              <a:lnSpc>
                <a:spcPct val="118000"/>
              </a:lnSpc>
              <a:spcAft>
                <a:spcPts val="1000"/>
              </a:spcAft>
            </a:pPr>
            <a:r>
              <a:rPr sz="1700" i="0" b="0">
                <a:solidFill>
                  <a:srgbClr val="555D66"/>
                </a:solidFill>
                <a:latin typeface="Calibri"/>
              </a:rPr>
              <a:t>How often do several regions converge on a single middle region, which then fans out again?</a:t>
            </a:r>
          </a:p>
        </p:txBody>
      </p:sp>
      <p:sp>
        <p:nvSpPr>
          <p:cNvPr id="10" name="Rectangle 9"/>
          <p:cNvSpPr/>
          <p:nvPr/>
        </p:nvSpPr>
        <p:spPr>
          <a:xfrm>
            <a:off x="6438747" y="2103120"/>
            <a:ext cx="5094579" cy="475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38747" y="2267712"/>
            <a:ext cx="5094579" cy="384048"/>
          </a:xfrm>
          <a:prstGeom prst="rect">
            <a:avLst/>
          </a:prstGeom>
          <a:noFill/>
        </p:spPr>
        <p:txBody>
          <a:bodyPr wrap="square" anchor="t" lIns="0" rIns="0" tIns="0" bIns="0">
            <a:spAutoFit/>
          </a:bodyPr>
          <a:lstStyle/>
          <a:p>
            <a:pPr algn="l">
              <a:lnSpc>
                <a:spcPct val="118000"/>
              </a:lnSpc>
              <a:spcAft>
                <a:spcPts val="1000"/>
              </a:spcAft>
            </a:pPr>
            <a:r>
              <a:rPr sz="1900" i="0" b="1">
                <a:solidFill>
                  <a:srgbClr val="B61918"/>
                </a:solidFill>
                <a:latin typeface="Calibri"/>
              </a:rPr>
              <a:t>Far away — the whole network at once</a:t>
            </a:r>
          </a:p>
        </p:txBody>
      </p:sp>
      <p:sp>
        <p:nvSpPr>
          <p:cNvPr id="12" name="TextBox 11"/>
          <p:cNvSpPr txBox="1"/>
          <p:nvPr/>
        </p:nvSpPr>
        <p:spPr>
          <a:xfrm>
            <a:off x="6438747" y="2761487"/>
            <a:ext cx="5094579" cy="914400"/>
          </a:xfrm>
          <a:prstGeom prst="rect">
            <a:avLst/>
          </a:prstGeom>
          <a:noFill/>
        </p:spPr>
        <p:txBody>
          <a:bodyPr wrap="square" anchor="t" lIns="0" rIns="0" tIns="0" bIns="0">
            <a:spAutoFit/>
          </a:bodyPr>
          <a:lstStyle/>
          <a:p>
            <a:pPr algn="l">
              <a:lnSpc>
                <a:spcPct val="118000"/>
              </a:lnSpc>
              <a:spcAft>
                <a:spcPts val="1000"/>
              </a:spcAft>
            </a:pPr>
            <a:r>
              <a:rPr sz="1700" i="0" b="0">
                <a:solidFill>
                  <a:srgbClr val="555D66"/>
                </a:solidFill>
                <a:latin typeface="Calibri"/>
              </a:rPr>
              <a:t>How few neurons does it take to cover every route from the senses to the muscles?</a:t>
            </a:r>
          </a:p>
        </p:txBody>
      </p:sp>
      <p:pic>
        <p:nvPicPr>
          <p:cNvPr id="13" name="Picture 12" descr="bowtie_schema.png"/>
          <p:cNvPicPr>
            <a:picLocks noChangeAspect="1"/>
          </p:cNvPicPr>
          <p:nvPr/>
        </p:nvPicPr>
        <p:blipFill>
          <a:blip r:embed="rId2"/>
          <a:stretch>
            <a:fillRect/>
          </a:stretch>
        </p:blipFill>
        <p:spPr>
          <a:xfrm>
            <a:off x="978407" y="3749039"/>
            <a:ext cx="4454499" cy="2298942"/>
          </a:xfrm>
          <a:prstGeom prst="rect">
            <a:avLst/>
          </a:prstGeom>
        </p:spPr>
      </p:pic>
      <p:sp>
        <p:nvSpPr>
          <p:cNvPr id="14" name="TextBox 13"/>
          <p:cNvSpPr txBox="1"/>
          <p:nvPr/>
        </p:nvSpPr>
        <p:spPr>
          <a:xfrm>
            <a:off x="658368" y="6139422"/>
            <a:ext cx="5094579" cy="822960"/>
          </a:xfrm>
          <a:prstGeom prst="rect">
            <a:avLst/>
          </a:prstGeom>
          <a:noFill/>
        </p:spPr>
        <p:txBody>
          <a:bodyPr wrap="square" anchor="t" lIns="0" rIns="0" tIns="0" bIns="0">
            <a:spAutoFit/>
          </a:bodyPr>
          <a:lstStyle/>
          <a:p>
            <a:pPr algn="ctr">
              <a:lnSpc>
                <a:spcPct val="118000"/>
              </a:lnSpc>
              <a:spcAft>
                <a:spcPts val="1000"/>
              </a:spcAft>
            </a:pPr>
            <a:r>
              <a:rPr sz="1800" i="0" b="0">
                <a:solidFill>
                  <a:srgbClr val="1A1A1A"/>
                </a:solidFill>
                <a:latin typeface="Calibri"/>
              </a:rPr>
              <a:t>Tells me </a:t>
            </a:r>
            <a:r>
              <a:rPr sz="1800" i="0" b="1">
                <a:solidFill>
                  <a:srgbClr val="B61918"/>
                </a:solidFill>
                <a:latin typeface="Calibri"/>
              </a:rPr>
              <a:t>which</a:t>
            </a:r>
            <a:r>
              <a:rPr sz="1800" i="0" b="0">
                <a:solidFill>
                  <a:srgbClr val="1A1A1A"/>
                </a:solidFill>
                <a:latin typeface="Calibri"/>
              </a:rPr>
              <a:t> structures are bottlenecks.</a:t>
            </a:r>
          </a:p>
        </p:txBody>
      </p:sp>
      <p:sp>
        <p:nvSpPr>
          <p:cNvPr id="15" name="TextBox 14"/>
          <p:cNvSpPr txBox="1"/>
          <p:nvPr/>
        </p:nvSpPr>
        <p:spPr>
          <a:xfrm>
            <a:off x="6438747" y="3886200"/>
            <a:ext cx="5094579" cy="2377440"/>
          </a:xfrm>
          <a:prstGeom prst="rect">
            <a:avLst/>
          </a:prstGeom>
          <a:noFill/>
        </p:spPr>
        <p:txBody>
          <a:bodyPr wrap="square" anchor="t" lIns="0" rIns="0" tIns="0" bIns="0">
            <a:spAutoFit/>
          </a:bodyPr>
          <a:lstStyle/>
          <a:p>
            <a:pPr algn="l">
              <a:lnSpc>
                <a:spcPct val="118000"/>
              </a:lnSpc>
              <a:spcAft>
                <a:spcPts val="200"/>
              </a:spcAft>
            </a:pPr>
            <a:r>
              <a:rPr sz="3200" i="0" b="1">
                <a:solidFill>
                  <a:srgbClr val="B61918"/>
                </a:solidFill>
                <a:latin typeface="Calibri"/>
              </a:rPr>
              <a:t>154 neurons</a:t>
            </a:r>
          </a:p>
          <a:p>
            <a:pPr algn="l">
              <a:lnSpc>
                <a:spcPct val="118000"/>
              </a:lnSpc>
              <a:spcAft>
                <a:spcPts val="2000"/>
              </a:spcAft>
            </a:pPr>
            <a:r>
              <a:rPr sz="1700" i="0" b="0">
                <a:solidFill>
                  <a:srgbClr val="555D66"/>
                </a:solidFill>
                <a:latin typeface="Calibri"/>
              </a:rPr>
              <a:t>cover 90% of the routes — a score of </a:t>
            </a:r>
            <a:r>
              <a:rPr sz="1700" i="0" b="1">
                <a:solidFill>
                  <a:srgbClr val="B61918"/>
                </a:solidFill>
                <a:latin typeface="Calibri"/>
              </a:rPr>
              <a:t>H = 0.498</a:t>
            </a:r>
            <a:r>
              <a:rPr sz="1700" i="0" b="0">
                <a:solidFill>
                  <a:srgbClr val="555D66"/>
                </a:solidFill>
                <a:latin typeface="Calibri"/>
              </a:rPr>
              <a:t>, against 0.74–0.87 for the worm </a:t>
            </a:r>
            <a:r>
              <a:rPr sz="1700" i="0" b="1">
                <a:solidFill>
                  <a:srgbClr val="B61918"/>
                </a:solidFill>
                <a:latin typeface="Calibri"/>
              </a:rPr>
              <a:t>C. elegans</a:t>
            </a:r>
          </a:p>
          <a:p>
            <a:pPr algn="l">
              <a:lnSpc>
                <a:spcPct val="118000"/>
              </a:lnSpc>
              <a:spcAft>
                <a:spcPts val="1000"/>
              </a:spcAft>
            </a:pPr>
            <a:r>
              <a:rPr sz="1800" i="0" b="0">
                <a:solidFill>
                  <a:srgbClr val="1A1A1A"/>
                </a:solidFill>
                <a:latin typeface="Calibri"/>
              </a:rPr>
              <a:t>Tells me </a:t>
            </a:r>
            <a:r>
              <a:rPr sz="1800" i="0" b="1">
                <a:solidFill>
                  <a:srgbClr val="B61918"/>
                </a:solidFill>
                <a:latin typeface="Calibri"/>
              </a:rPr>
              <a:t>whether</a:t>
            </a:r>
            <a:r>
              <a:rPr sz="1800" i="0" b="0">
                <a:solidFill>
                  <a:srgbClr val="1A1A1A"/>
                </a:solidFill>
                <a:latin typeface="Calibri"/>
              </a:rPr>
              <a:t> the brain has a bottleneck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731520"/>
          </a:xfrm>
          <a:prstGeom prst="rect">
            <a:avLst/>
          </a:prstGeom>
          <a:noFill/>
        </p:spPr>
        <p:txBody>
          <a:bodyPr wrap="square" anchor="t" lIns="0" rIns="0" tIns="0" bIns="0">
            <a:spAutoFit/>
          </a:bodyPr>
          <a:lstStyle/>
          <a:p>
            <a:pPr algn="l">
              <a:lnSpc>
                <a:spcPct val="118000"/>
              </a:lnSpc>
              <a:spcAft>
                <a:spcPts val="1000"/>
              </a:spcAft>
            </a:pPr>
            <a:r>
              <a:rPr sz="3000" i="0" b="1">
                <a:solidFill>
                  <a:srgbClr val="B61918"/>
                </a:solidFill>
                <a:latin typeface="Calibri"/>
              </a:rPr>
              <a:t>Sixteen directional signatures</a:t>
            </a:r>
          </a:p>
        </p:txBody>
      </p:sp>
      <p:sp>
        <p:nvSpPr>
          <p:cNvPr id="3" name="Rectangle 2"/>
          <p:cNvSpPr/>
          <p:nvPr/>
        </p:nvSpPr>
        <p:spPr>
          <a:xfrm>
            <a:off x="658368" y="1207008"/>
            <a:ext cx="2194560" cy="411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2852928" y="1207008"/>
            <a:ext cx="8680399" cy="41148"/>
          </a:xfrm>
          <a:prstGeom prst="rect">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36047" y="6291072"/>
            <a:ext cx="1097280" cy="320040"/>
          </a:xfrm>
          <a:prstGeom prst="rect">
            <a:avLst/>
          </a:prstGeom>
          <a:noFill/>
        </p:spPr>
        <p:txBody>
          <a:bodyPr wrap="square" anchor="t" lIns="0" rIns="0" tIns="0" bIns="0">
            <a:spAutoFit/>
          </a:bodyPr>
          <a:lstStyle/>
          <a:p>
            <a:pPr algn="r">
              <a:lnSpc>
                <a:spcPct val="118000"/>
              </a:lnSpc>
              <a:spcAft>
                <a:spcPts val="1000"/>
              </a:spcAft>
            </a:pPr>
            <a:r>
              <a:rPr sz="1200" i="0" b="0">
                <a:solidFill>
                  <a:srgbClr val="9E9E9D"/>
                </a:solidFill>
                <a:latin typeface="Calibri"/>
              </a:rPr>
              <a:t>4</a:t>
            </a:r>
          </a:p>
        </p:txBody>
      </p:sp>
      <p:pic>
        <p:nvPicPr>
          <p:cNvPr id="6" name="Picture 5" descr="signature_grid_slide.png"/>
          <p:cNvPicPr>
            <a:picLocks noChangeAspect="1"/>
          </p:cNvPicPr>
          <p:nvPr/>
        </p:nvPicPr>
        <p:blipFill>
          <a:blip r:embed="rId2"/>
          <a:stretch>
            <a:fillRect/>
          </a:stretch>
        </p:blipFill>
        <p:spPr>
          <a:xfrm>
            <a:off x="658368" y="1335024"/>
            <a:ext cx="5859011" cy="4937759"/>
          </a:xfrm>
          <a:prstGeom prst="rect">
            <a:avLst/>
          </a:prstGeom>
        </p:spPr>
      </p:pic>
      <p:sp>
        <p:nvSpPr>
          <p:cNvPr id="7" name="TextBox 6"/>
          <p:cNvSpPr txBox="1"/>
          <p:nvPr/>
        </p:nvSpPr>
        <p:spPr>
          <a:xfrm>
            <a:off x="7111739" y="1719072"/>
            <a:ext cx="4421587" cy="4206240"/>
          </a:xfrm>
          <a:prstGeom prst="rect">
            <a:avLst/>
          </a:prstGeom>
          <a:noFill/>
        </p:spPr>
        <p:txBody>
          <a:bodyPr wrap="square" anchor="t" lIns="0" rIns="0" tIns="0" bIns="0">
            <a:spAutoFit/>
          </a:bodyPr>
          <a:lstStyle/>
          <a:p>
            <a:pPr algn="l">
              <a:lnSpc>
                <a:spcPct val="118000"/>
              </a:lnSpc>
              <a:spcAft>
                <a:spcPts val="1800"/>
              </a:spcAft>
            </a:pPr>
            <a:r>
              <a:rPr sz="1800" i="0" b="0">
                <a:solidFill>
                  <a:srgbClr val="1A1A1A"/>
                </a:solidFill>
                <a:latin typeface="Calibri"/>
              </a:rPr>
              <a:t>Labelling all four connections at once is useless: it puts </a:t>
            </a:r>
            <a:r>
              <a:rPr sz="1800" i="0" b="1">
                <a:solidFill>
                  <a:srgbClr val="B61918"/>
                </a:solidFill>
                <a:latin typeface="Calibri"/>
              </a:rPr>
              <a:t>94% of motifs</a:t>
            </a:r>
            <a:r>
              <a:rPr sz="1800" i="0" b="0">
                <a:solidFill>
                  <a:srgbClr val="1A1A1A"/>
                </a:solidFill>
                <a:latin typeface="Calibri"/>
              </a:rPr>
              <a:t> into one bucket.</a:t>
            </a:r>
          </a:p>
          <a:p>
            <a:pPr algn="l">
              <a:lnSpc>
                <a:spcPct val="118000"/>
              </a:lnSpc>
              <a:spcAft>
                <a:spcPts val="1800"/>
              </a:spcAft>
            </a:pPr>
            <a:r>
              <a:rPr sz="1800" i="0" b="0">
                <a:solidFill>
                  <a:srgbClr val="1A1A1A"/>
                </a:solidFill>
                <a:latin typeface="Calibri"/>
              </a:rPr>
              <a:t>So each motif gets </a:t>
            </a:r>
            <a:r>
              <a:rPr sz="1800" i="0" b="1">
                <a:solidFill>
                  <a:srgbClr val="B61918"/>
                </a:solidFill>
                <a:latin typeface="Calibri"/>
              </a:rPr>
              <a:t>two labels</a:t>
            </a:r>
            <a:r>
              <a:rPr sz="1800" i="0" b="0">
                <a:solidFill>
                  <a:srgbClr val="1A1A1A"/>
                </a:solidFill>
                <a:latin typeface="Calibri"/>
              </a:rPr>
              <a:t>, one per branch — the one going in, the one coming out.</a:t>
            </a:r>
          </a:p>
          <a:p>
            <a:pPr algn="l">
              <a:lnSpc>
                <a:spcPct val="118000"/>
              </a:lnSpc>
              <a:spcAft>
                <a:spcPts val="1800"/>
              </a:spcAft>
            </a:pPr>
            <a:r>
              <a:rPr sz="1800" i="0" b="0">
                <a:solidFill>
                  <a:srgbClr val="1A1A1A"/>
                </a:solidFill>
                <a:latin typeface="Calibri"/>
              </a:rPr>
              <a:t>Each branch runs </a:t>
            </a:r>
            <a:r>
              <a:rPr sz="1800" i="0" b="1">
                <a:solidFill>
                  <a:srgbClr val="B61918"/>
                </a:solidFill>
                <a:latin typeface="Calibri"/>
              </a:rPr>
              <a:t>deeper</a:t>
            </a:r>
            <a:r>
              <a:rPr sz="1800" i="0" b="0">
                <a:solidFill>
                  <a:srgbClr val="1A1A1A"/>
                </a:solidFill>
                <a:latin typeface="Calibri"/>
              </a:rPr>
              <a:t>, runs </a:t>
            </a:r>
            <a:r>
              <a:rPr sz="1800" i="0" b="1">
                <a:solidFill>
                  <a:srgbClr val="B61918"/>
                </a:solidFill>
                <a:latin typeface="Calibri"/>
              </a:rPr>
              <a:t>back</a:t>
            </a:r>
            <a:r>
              <a:rPr sz="1800" i="0" b="0">
                <a:solidFill>
                  <a:srgbClr val="1A1A1A"/>
                </a:solidFill>
                <a:latin typeface="Calibri"/>
              </a:rPr>
              <a:t>, stays </a:t>
            </a:r>
            <a:r>
              <a:rPr sz="1800" i="0" b="1">
                <a:solidFill>
                  <a:srgbClr val="B61918"/>
                </a:solidFill>
                <a:latin typeface="Calibri"/>
              </a:rPr>
              <a:t>level</a:t>
            </a:r>
            <a:r>
              <a:rPr sz="1800" i="0" b="0">
                <a:solidFill>
                  <a:srgbClr val="1A1A1A"/>
                </a:solidFill>
                <a:latin typeface="Calibri"/>
              </a:rPr>
              <a:t>, or is </a:t>
            </a:r>
            <a:r>
              <a:rPr sz="1800" i="0" b="1">
                <a:solidFill>
                  <a:srgbClr val="B61918"/>
                </a:solidFill>
                <a:latin typeface="Calibri"/>
              </a:rPr>
              <a:t>mixed</a:t>
            </a:r>
            <a:r>
              <a:rPr sz="1800" i="0" b="0">
                <a:solidFill>
                  <a:srgbClr val="1A1A1A"/>
                </a:solidFill>
                <a:latin typeface="Calibri"/>
              </a:rPr>
              <a:t>. Four by four: </a:t>
            </a:r>
            <a:r>
              <a:rPr sz="1800" i="0" b="1">
                <a:solidFill>
                  <a:srgbClr val="B61918"/>
                </a:solidFill>
                <a:latin typeface="Calibri"/>
              </a:rPr>
              <a:t>sixteen signatures</a:t>
            </a:r>
            <a:r>
              <a:rPr sz="1800" i="0" b="0">
                <a:solidFill>
                  <a:srgbClr val="1A1A1A"/>
                </a:solidFill>
                <a:latin typeface="Calibri"/>
              </a:rPr>
              <a:t>.</a:t>
            </a:r>
          </a:p>
          <a:p>
            <a:pPr algn="l">
              <a:lnSpc>
                <a:spcPct val="118000"/>
              </a:lnSpc>
              <a:spcAft>
                <a:spcPts val="1000"/>
              </a:spcAft>
            </a:pPr>
            <a:r>
              <a:rPr sz="1600" i="0" b="0">
                <a:solidFill>
                  <a:srgbClr val="555D66"/>
                </a:solidFill>
                <a:latin typeface="Calibri"/>
              </a:rPr>
              <a:t>Depth increases downwards, so the signature can be read from the slope of the arrows alone.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731520"/>
          </a:xfrm>
          <a:prstGeom prst="rect">
            <a:avLst/>
          </a:prstGeom>
          <a:noFill/>
        </p:spPr>
        <p:txBody>
          <a:bodyPr wrap="square" anchor="t" lIns="0" rIns="0" tIns="0" bIns="0">
            <a:spAutoFit/>
          </a:bodyPr>
          <a:lstStyle/>
          <a:p>
            <a:pPr algn="l">
              <a:lnSpc>
                <a:spcPct val="118000"/>
              </a:lnSpc>
              <a:spcAft>
                <a:spcPts val="1000"/>
              </a:spcAft>
            </a:pPr>
            <a:r>
              <a:rPr sz="3000" i="0" b="1">
                <a:solidFill>
                  <a:srgbClr val="B61918"/>
                </a:solidFill>
                <a:latin typeface="Calibri"/>
              </a:rPr>
              <a:t>The deep brain stirs instead of advancing</a:t>
            </a:r>
          </a:p>
        </p:txBody>
      </p:sp>
      <p:sp>
        <p:nvSpPr>
          <p:cNvPr id="3" name="Rectangle 2"/>
          <p:cNvSpPr/>
          <p:nvPr/>
        </p:nvSpPr>
        <p:spPr>
          <a:xfrm>
            <a:off x="658368" y="1207008"/>
            <a:ext cx="2194560" cy="411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2852928" y="1207008"/>
            <a:ext cx="8680399" cy="41148"/>
          </a:xfrm>
          <a:prstGeom prst="rect">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36047" y="6291072"/>
            <a:ext cx="1097280" cy="320040"/>
          </a:xfrm>
          <a:prstGeom prst="rect">
            <a:avLst/>
          </a:prstGeom>
          <a:noFill/>
        </p:spPr>
        <p:txBody>
          <a:bodyPr wrap="square" anchor="t" lIns="0" rIns="0" tIns="0" bIns="0">
            <a:spAutoFit/>
          </a:bodyPr>
          <a:lstStyle/>
          <a:p>
            <a:pPr algn="r">
              <a:lnSpc>
                <a:spcPct val="118000"/>
              </a:lnSpc>
              <a:spcAft>
                <a:spcPts val="1000"/>
              </a:spcAft>
            </a:pPr>
            <a:r>
              <a:rPr sz="1200" i="0" b="0">
                <a:solidFill>
                  <a:srgbClr val="9E9E9D"/>
                </a:solidFill>
                <a:latin typeface="Calibri"/>
              </a:rPr>
              <a:t>5</a:t>
            </a:r>
          </a:p>
        </p:txBody>
      </p:sp>
      <p:pic>
        <p:nvPicPr>
          <p:cNvPr id="6" name="Picture 5" descr="signature_shift_slide.png"/>
          <p:cNvPicPr>
            <a:picLocks noChangeAspect="1"/>
          </p:cNvPicPr>
          <p:nvPr/>
        </p:nvPicPr>
        <p:blipFill>
          <a:blip r:embed="rId2"/>
          <a:stretch>
            <a:fillRect/>
          </a:stretch>
        </p:blipFill>
        <p:spPr>
          <a:xfrm>
            <a:off x="658368" y="1399032"/>
            <a:ext cx="6987937" cy="4846320"/>
          </a:xfrm>
          <a:prstGeom prst="rect">
            <a:avLst/>
          </a:prstGeom>
        </p:spPr>
      </p:pic>
      <p:sp>
        <p:nvSpPr>
          <p:cNvPr id="7" name="TextBox 6"/>
          <p:cNvSpPr txBox="1"/>
          <p:nvPr/>
        </p:nvSpPr>
        <p:spPr>
          <a:xfrm>
            <a:off x="8194945" y="1764792"/>
            <a:ext cx="3338381" cy="4206240"/>
          </a:xfrm>
          <a:prstGeom prst="rect">
            <a:avLst/>
          </a:prstGeom>
          <a:noFill/>
        </p:spPr>
        <p:txBody>
          <a:bodyPr wrap="square" anchor="t" lIns="0" rIns="0" tIns="0" bIns="0">
            <a:spAutoFit/>
          </a:bodyPr>
          <a:lstStyle/>
          <a:p>
            <a:pPr algn="l">
              <a:lnSpc>
                <a:spcPct val="118000"/>
              </a:lnSpc>
              <a:spcAft>
                <a:spcPts val="2000"/>
              </a:spcAft>
            </a:pPr>
            <a:r>
              <a:rPr sz="1900" i="0" b="0">
                <a:solidFill>
                  <a:srgbClr val="1A1A1A"/>
                </a:solidFill>
                <a:latin typeface="Calibri"/>
              </a:rPr>
              <a:t>Near the senses the flow runs </a:t>
            </a:r>
            <a:r>
              <a:rPr sz="1900" i="0" b="1">
                <a:solidFill>
                  <a:srgbClr val="B61918"/>
                </a:solidFill>
                <a:latin typeface="Calibri"/>
              </a:rPr>
              <a:t>forward</a:t>
            </a:r>
            <a:r>
              <a:rPr sz="1900" i="0" b="0">
                <a:solidFill>
                  <a:srgbClr val="1A1A1A"/>
                </a:solidFill>
                <a:latin typeface="Calibri"/>
              </a:rPr>
              <a:t>. Deep down it turns </a:t>
            </a:r>
            <a:r>
              <a:rPr sz="1900" i="0" b="1">
                <a:solidFill>
                  <a:srgbClr val="B61918"/>
                </a:solidFill>
                <a:latin typeface="Calibri"/>
              </a:rPr>
              <a:t>sideways</a:t>
            </a:r>
            <a:r>
              <a:rPr sz="1900" i="0" b="0">
                <a:solidFill>
                  <a:srgbClr val="1A1A1A"/>
                </a:solidFill>
                <a:latin typeface="Calibri"/>
              </a:rPr>
              <a:t>.</a:t>
            </a:r>
          </a:p>
          <a:p>
            <a:pPr algn="l">
              <a:lnSpc>
                <a:spcPct val="118000"/>
              </a:lnSpc>
              <a:spcAft>
                <a:spcPts val="200"/>
              </a:spcAft>
            </a:pPr>
            <a:r>
              <a:rPr sz="3000" i="0" b="1">
                <a:solidFill>
                  <a:srgbClr val="B61918"/>
                </a:solidFill>
                <a:latin typeface="Calibri"/>
              </a:rPr>
              <a:t>38.0%  →  82.6%</a:t>
            </a:r>
          </a:p>
          <a:p>
            <a:pPr algn="l">
              <a:lnSpc>
                <a:spcPct val="118000"/>
              </a:lnSpc>
              <a:spcAft>
                <a:spcPts val="2200"/>
              </a:spcAft>
            </a:pPr>
            <a:r>
              <a:rPr sz="1600" i="0" b="0">
                <a:solidFill>
                  <a:srgbClr val="555D66"/>
                </a:solidFill>
                <a:latin typeface="Calibri"/>
              </a:rPr>
              <a:t>of the motif traffic, in signatures with an entirely sideways branch</a:t>
            </a:r>
          </a:p>
          <a:p>
            <a:pPr algn="l">
              <a:lnSpc>
                <a:spcPct val="118000"/>
              </a:lnSpc>
              <a:spcAft>
                <a:spcPts val="1000"/>
              </a:spcAft>
            </a:pPr>
            <a:r>
              <a:rPr sz="1800" i="0" b="0">
                <a:solidFill>
                  <a:srgbClr val="1A1A1A"/>
                </a:solidFill>
                <a:latin typeface="Calibri"/>
              </a:rPr>
              <a:t>The deep brain does not push the signal onwards: it </a:t>
            </a:r>
            <a:r>
              <a:rPr sz="1800" i="0" b="1">
                <a:solidFill>
                  <a:srgbClr val="B61918"/>
                </a:solidFill>
                <a:latin typeface="Calibri"/>
              </a:rPr>
              <a:t>stirs it in place</a:t>
            </a:r>
            <a:r>
              <a:rPr sz="1800" i="0" b="0">
                <a:solidFill>
                  <a:srgbClr val="1A1A1A"/>
                </a:solidFill>
                <a:latin typeface="Calibri"/>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731520"/>
          </a:xfrm>
          <a:prstGeom prst="rect">
            <a:avLst/>
          </a:prstGeom>
          <a:noFill/>
        </p:spPr>
        <p:txBody>
          <a:bodyPr wrap="square" anchor="t" lIns="0" rIns="0" tIns="0" bIns="0">
            <a:spAutoFit/>
          </a:bodyPr>
          <a:lstStyle/>
          <a:p>
            <a:pPr algn="l">
              <a:lnSpc>
                <a:spcPct val="118000"/>
              </a:lnSpc>
              <a:spcAft>
                <a:spcPts val="1000"/>
              </a:spcAft>
            </a:pPr>
            <a:r>
              <a:rPr sz="3000" i="0" b="1">
                <a:solidFill>
                  <a:srgbClr val="B61918"/>
                </a:solidFill>
                <a:latin typeface="Calibri"/>
              </a:rPr>
              <a:t>Do the two views agree?</a:t>
            </a:r>
          </a:p>
        </p:txBody>
      </p:sp>
      <p:sp>
        <p:nvSpPr>
          <p:cNvPr id="3" name="Rectangle 2"/>
          <p:cNvSpPr/>
          <p:nvPr/>
        </p:nvSpPr>
        <p:spPr>
          <a:xfrm>
            <a:off x="658368" y="1207008"/>
            <a:ext cx="2194560" cy="411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2852928" y="1207008"/>
            <a:ext cx="8680399" cy="41148"/>
          </a:xfrm>
          <a:prstGeom prst="rect">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36047" y="6291072"/>
            <a:ext cx="1097280" cy="320040"/>
          </a:xfrm>
          <a:prstGeom prst="rect">
            <a:avLst/>
          </a:prstGeom>
          <a:noFill/>
        </p:spPr>
        <p:txBody>
          <a:bodyPr wrap="square" anchor="t" lIns="0" rIns="0" tIns="0" bIns="0">
            <a:spAutoFit/>
          </a:bodyPr>
          <a:lstStyle/>
          <a:p>
            <a:pPr algn="r">
              <a:lnSpc>
                <a:spcPct val="118000"/>
              </a:lnSpc>
              <a:spcAft>
                <a:spcPts val="1000"/>
              </a:spcAft>
            </a:pPr>
            <a:r>
              <a:rPr sz="1200" i="0" b="0">
                <a:solidFill>
                  <a:srgbClr val="9E9E9D"/>
                </a:solidFill>
                <a:latin typeface="Calibri"/>
              </a:rPr>
              <a:t>6</a:t>
            </a:r>
          </a:p>
        </p:txBody>
      </p:sp>
      <p:sp>
        <p:nvSpPr>
          <p:cNvPr id="6" name="TextBox 5"/>
          <p:cNvSpPr txBox="1"/>
          <p:nvPr/>
        </p:nvSpPr>
        <p:spPr>
          <a:xfrm>
            <a:off x="658368" y="1444752"/>
            <a:ext cx="10874959" cy="548640"/>
          </a:xfrm>
          <a:prstGeom prst="rect">
            <a:avLst/>
          </a:prstGeom>
          <a:noFill/>
        </p:spPr>
        <p:txBody>
          <a:bodyPr wrap="square" anchor="t" lIns="0" rIns="0" tIns="0" bIns="0">
            <a:spAutoFit/>
          </a:bodyPr>
          <a:lstStyle/>
          <a:p>
            <a:pPr algn="l">
              <a:lnSpc>
                <a:spcPct val="118000"/>
              </a:lnSpc>
              <a:spcAft>
                <a:spcPts val="1000"/>
              </a:spcAft>
            </a:pPr>
            <a:r>
              <a:rPr sz="2100" i="0" b="0">
                <a:solidFill>
                  <a:srgbClr val="1A1A1A"/>
                </a:solidFill>
                <a:latin typeface="Calibri"/>
              </a:rPr>
              <a:t>Out of </a:t>
            </a:r>
            <a:r>
              <a:rPr sz="2100" i="0" b="1">
                <a:solidFill>
                  <a:srgbClr val="B61918"/>
                </a:solidFill>
                <a:latin typeface="Calibri"/>
              </a:rPr>
              <a:t>660 regions</a:t>
            </a:r>
            <a:r>
              <a:rPr sz="2100" i="0" b="0">
                <a:solidFill>
                  <a:srgbClr val="1A1A1A"/>
                </a:solidFill>
                <a:latin typeface="Calibri"/>
              </a:rPr>
              <a:t>, both views put the </a:t>
            </a:r>
            <a:r>
              <a:rPr sz="2100" i="0" b="1">
                <a:solidFill>
                  <a:srgbClr val="B61918"/>
                </a:solidFill>
                <a:latin typeface="Calibri"/>
              </a:rPr>
              <a:t>same four</a:t>
            </a:r>
            <a:r>
              <a:rPr sz="2100" i="0" b="0">
                <a:solidFill>
                  <a:srgbClr val="1A1A1A"/>
                </a:solidFill>
                <a:latin typeface="Calibri"/>
              </a:rPr>
              <a:t> near the top — and all four sit on the </a:t>
            </a:r>
            <a:r>
              <a:rPr sz="2100" i="0" b="1">
                <a:solidFill>
                  <a:srgbClr val="B61918"/>
                </a:solidFill>
                <a:latin typeface="Calibri"/>
              </a:rPr>
              <a:t>olfactory pathway</a:t>
            </a:r>
            <a:r>
              <a:rPr sz="2100" i="0" b="0">
                <a:solidFill>
                  <a:srgbClr val="1A1A1A"/>
                </a:solidFill>
                <a:latin typeface="Calibri"/>
              </a:rPr>
              <a:t>.</a:t>
            </a:r>
          </a:p>
        </p:txBody>
      </p:sp>
      <p:sp>
        <p:nvSpPr>
          <p:cNvPr id="7" name="TextBox 6"/>
          <p:cNvSpPr txBox="1"/>
          <p:nvPr/>
        </p:nvSpPr>
        <p:spPr>
          <a:xfrm>
            <a:off x="932688" y="2359152"/>
            <a:ext cx="3108960" cy="411480"/>
          </a:xfrm>
          <a:prstGeom prst="rect">
            <a:avLst/>
          </a:prstGeom>
          <a:noFill/>
        </p:spPr>
        <p:txBody>
          <a:bodyPr wrap="square" anchor="t" lIns="0" rIns="0" tIns="0" bIns="0">
            <a:spAutoFit/>
          </a:bodyPr>
          <a:lstStyle/>
          <a:p>
            <a:pPr algn="l">
              <a:lnSpc>
                <a:spcPct val="118000"/>
              </a:lnSpc>
              <a:spcAft>
                <a:spcPts val="1000"/>
              </a:spcAft>
            </a:pPr>
            <a:r>
              <a:rPr sz="1500" i="0" b="0">
                <a:solidFill>
                  <a:srgbClr val="9E9E9D"/>
                </a:solidFill>
                <a:latin typeface="Calibri"/>
              </a:rPr>
              <a:t>Brain region</a:t>
            </a:r>
          </a:p>
        </p:txBody>
      </p:sp>
      <p:sp>
        <p:nvSpPr>
          <p:cNvPr id="8" name="TextBox 7"/>
          <p:cNvSpPr txBox="1"/>
          <p:nvPr/>
        </p:nvSpPr>
        <p:spPr>
          <a:xfrm>
            <a:off x="4041648" y="2359152"/>
            <a:ext cx="2286000" cy="411480"/>
          </a:xfrm>
          <a:prstGeom prst="rect">
            <a:avLst/>
          </a:prstGeom>
          <a:noFill/>
        </p:spPr>
        <p:txBody>
          <a:bodyPr wrap="square" anchor="t" lIns="0" rIns="0" tIns="0" bIns="0">
            <a:spAutoFit/>
          </a:bodyPr>
          <a:lstStyle/>
          <a:p>
            <a:pPr algn="ctr">
              <a:lnSpc>
                <a:spcPct val="118000"/>
              </a:lnSpc>
              <a:spcAft>
                <a:spcPts val="1000"/>
              </a:spcAft>
            </a:pPr>
            <a:r>
              <a:rPr sz="1500" i="0" b="0">
                <a:solidFill>
                  <a:srgbClr val="9E9E9D"/>
                </a:solidFill>
                <a:latin typeface="Calibri"/>
              </a:rPr>
              <a:t>rank, close up</a:t>
            </a:r>
          </a:p>
        </p:txBody>
      </p:sp>
      <p:sp>
        <p:nvSpPr>
          <p:cNvPr id="9" name="TextBox 8"/>
          <p:cNvSpPr txBox="1"/>
          <p:nvPr/>
        </p:nvSpPr>
        <p:spPr>
          <a:xfrm>
            <a:off x="6327648" y="2359152"/>
            <a:ext cx="2286000" cy="411480"/>
          </a:xfrm>
          <a:prstGeom prst="rect">
            <a:avLst/>
          </a:prstGeom>
          <a:noFill/>
        </p:spPr>
        <p:txBody>
          <a:bodyPr wrap="square" anchor="t" lIns="0" rIns="0" tIns="0" bIns="0">
            <a:spAutoFit/>
          </a:bodyPr>
          <a:lstStyle/>
          <a:p>
            <a:pPr algn="ctr">
              <a:lnSpc>
                <a:spcPct val="118000"/>
              </a:lnSpc>
              <a:spcAft>
                <a:spcPts val="1000"/>
              </a:spcAft>
            </a:pPr>
            <a:r>
              <a:rPr sz="1500" i="0" b="0">
                <a:solidFill>
                  <a:srgbClr val="9E9E9D"/>
                </a:solidFill>
                <a:latin typeface="Calibri"/>
              </a:rPr>
              <a:t>rank, far away</a:t>
            </a:r>
          </a:p>
        </p:txBody>
      </p:sp>
      <p:sp>
        <p:nvSpPr>
          <p:cNvPr id="10" name="Rectangle 9"/>
          <p:cNvSpPr/>
          <p:nvPr/>
        </p:nvSpPr>
        <p:spPr>
          <a:xfrm>
            <a:off x="932688" y="2798064"/>
            <a:ext cx="7680960" cy="20116"/>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22960" y="2889504"/>
            <a:ext cx="7900416" cy="512064"/>
          </a:xfrm>
          <a:prstGeom prst="rect">
            <a:avLst/>
          </a:prstGeom>
          <a:solidFill>
            <a:srgbClr val="F4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2926080"/>
            <a:ext cx="3108960" cy="457200"/>
          </a:xfrm>
          <a:prstGeom prst="rect">
            <a:avLst/>
          </a:prstGeom>
          <a:noFill/>
        </p:spPr>
        <p:txBody>
          <a:bodyPr wrap="square" anchor="t" lIns="0" rIns="0" tIns="0" bIns="0">
            <a:spAutoFit/>
          </a:bodyPr>
          <a:lstStyle/>
          <a:p>
            <a:pPr algn="l">
              <a:lnSpc>
                <a:spcPct val="118000"/>
              </a:lnSpc>
              <a:spcAft>
                <a:spcPts val="1000"/>
              </a:spcAft>
            </a:pPr>
            <a:r>
              <a:rPr sz="1700" i="0" b="0">
                <a:solidFill>
                  <a:srgbClr val="1A1A1A"/>
                </a:solidFill>
                <a:latin typeface="Calibri"/>
              </a:rPr>
              <a:t>antennal lobe → mushroom body</a:t>
            </a:r>
          </a:p>
        </p:txBody>
      </p:sp>
      <p:sp>
        <p:nvSpPr>
          <p:cNvPr id="13" name="TextBox 12"/>
          <p:cNvSpPr txBox="1"/>
          <p:nvPr/>
        </p:nvSpPr>
        <p:spPr>
          <a:xfrm>
            <a:off x="4041648" y="2926080"/>
            <a:ext cx="2286000" cy="457200"/>
          </a:xfrm>
          <a:prstGeom prst="rect">
            <a:avLst/>
          </a:prstGeom>
          <a:noFill/>
        </p:spPr>
        <p:txBody>
          <a:bodyPr wrap="square" anchor="t" lIns="0" rIns="0" tIns="0" bIns="0">
            <a:spAutoFit/>
          </a:bodyPr>
          <a:lstStyle/>
          <a:p>
            <a:pPr algn="ctr">
              <a:lnSpc>
                <a:spcPct val="118000"/>
              </a:lnSpc>
              <a:spcAft>
                <a:spcPts val="1000"/>
              </a:spcAft>
            </a:pPr>
            <a:r>
              <a:rPr sz="1900" i="0" b="1">
                <a:solidFill>
                  <a:srgbClr val="B61918"/>
                </a:solidFill>
                <a:latin typeface="Calibri"/>
              </a:rPr>
              <a:t>8</a:t>
            </a:r>
          </a:p>
        </p:txBody>
      </p:sp>
      <p:sp>
        <p:nvSpPr>
          <p:cNvPr id="14" name="TextBox 13"/>
          <p:cNvSpPr txBox="1"/>
          <p:nvPr/>
        </p:nvSpPr>
        <p:spPr>
          <a:xfrm>
            <a:off x="6327648" y="2926080"/>
            <a:ext cx="2286000" cy="457200"/>
          </a:xfrm>
          <a:prstGeom prst="rect">
            <a:avLst/>
          </a:prstGeom>
          <a:noFill/>
        </p:spPr>
        <p:txBody>
          <a:bodyPr wrap="square" anchor="t" lIns="0" rIns="0" tIns="0" bIns="0">
            <a:spAutoFit/>
          </a:bodyPr>
          <a:lstStyle/>
          <a:p>
            <a:pPr algn="ctr">
              <a:lnSpc>
                <a:spcPct val="118000"/>
              </a:lnSpc>
              <a:spcAft>
                <a:spcPts val="1000"/>
              </a:spcAft>
            </a:pPr>
            <a:r>
              <a:rPr sz="1900" i="0" b="1">
                <a:solidFill>
                  <a:srgbClr val="B61918"/>
                </a:solidFill>
                <a:latin typeface="Calibri"/>
              </a:rPr>
              <a:t>12</a:t>
            </a:r>
          </a:p>
        </p:txBody>
      </p:sp>
      <p:sp>
        <p:nvSpPr>
          <p:cNvPr id="15" name="TextBox 14"/>
          <p:cNvSpPr txBox="1"/>
          <p:nvPr/>
        </p:nvSpPr>
        <p:spPr>
          <a:xfrm>
            <a:off x="932688" y="3493008"/>
            <a:ext cx="3108960" cy="457200"/>
          </a:xfrm>
          <a:prstGeom prst="rect">
            <a:avLst/>
          </a:prstGeom>
          <a:noFill/>
        </p:spPr>
        <p:txBody>
          <a:bodyPr wrap="square" anchor="t" lIns="0" rIns="0" tIns="0" bIns="0">
            <a:spAutoFit/>
          </a:bodyPr>
          <a:lstStyle/>
          <a:p>
            <a:pPr algn="l">
              <a:lnSpc>
                <a:spcPct val="118000"/>
              </a:lnSpc>
              <a:spcAft>
                <a:spcPts val="1000"/>
              </a:spcAft>
            </a:pPr>
            <a:r>
              <a:rPr sz="1700" i="0" b="0">
                <a:solidFill>
                  <a:srgbClr val="1A1A1A"/>
                </a:solidFill>
                <a:latin typeface="Calibri"/>
              </a:rPr>
              <a:t>antennal lobe → lateral horn</a:t>
            </a:r>
          </a:p>
        </p:txBody>
      </p:sp>
      <p:sp>
        <p:nvSpPr>
          <p:cNvPr id="16" name="TextBox 15"/>
          <p:cNvSpPr txBox="1"/>
          <p:nvPr/>
        </p:nvSpPr>
        <p:spPr>
          <a:xfrm>
            <a:off x="4041648" y="3493008"/>
            <a:ext cx="2286000" cy="457200"/>
          </a:xfrm>
          <a:prstGeom prst="rect">
            <a:avLst/>
          </a:prstGeom>
          <a:noFill/>
        </p:spPr>
        <p:txBody>
          <a:bodyPr wrap="square" anchor="t" lIns="0" rIns="0" tIns="0" bIns="0">
            <a:spAutoFit/>
          </a:bodyPr>
          <a:lstStyle/>
          <a:p>
            <a:pPr algn="ctr">
              <a:lnSpc>
                <a:spcPct val="118000"/>
              </a:lnSpc>
              <a:spcAft>
                <a:spcPts val="1000"/>
              </a:spcAft>
            </a:pPr>
            <a:r>
              <a:rPr sz="1900" i="0" b="1">
                <a:solidFill>
                  <a:srgbClr val="B61918"/>
                </a:solidFill>
                <a:latin typeface="Calibri"/>
              </a:rPr>
              <a:t>10</a:t>
            </a:r>
          </a:p>
        </p:txBody>
      </p:sp>
      <p:sp>
        <p:nvSpPr>
          <p:cNvPr id="17" name="TextBox 16"/>
          <p:cNvSpPr txBox="1"/>
          <p:nvPr/>
        </p:nvSpPr>
        <p:spPr>
          <a:xfrm>
            <a:off x="6327648" y="3493008"/>
            <a:ext cx="2286000" cy="457200"/>
          </a:xfrm>
          <a:prstGeom prst="rect">
            <a:avLst/>
          </a:prstGeom>
          <a:noFill/>
        </p:spPr>
        <p:txBody>
          <a:bodyPr wrap="square" anchor="t" lIns="0" rIns="0" tIns="0" bIns="0">
            <a:spAutoFit/>
          </a:bodyPr>
          <a:lstStyle/>
          <a:p>
            <a:pPr algn="ctr">
              <a:lnSpc>
                <a:spcPct val="118000"/>
              </a:lnSpc>
              <a:spcAft>
                <a:spcPts val="1000"/>
              </a:spcAft>
            </a:pPr>
            <a:r>
              <a:rPr sz="1900" i="0" b="1">
                <a:solidFill>
                  <a:srgbClr val="B61918"/>
                </a:solidFill>
                <a:latin typeface="Calibri"/>
              </a:rPr>
              <a:t>2</a:t>
            </a:r>
          </a:p>
        </p:txBody>
      </p:sp>
      <p:sp>
        <p:nvSpPr>
          <p:cNvPr id="18" name="Rectangle 17"/>
          <p:cNvSpPr/>
          <p:nvPr/>
        </p:nvSpPr>
        <p:spPr>
          <a:xfrm>
            <a:off x="822960" y="4023360"/>
            <a:ext cx="7900416" cy="512064"/>
          </a:xfrm>
          <a:prstGeom prst="rect">
            <a:avLst/>
          </a:prstGeom>
          <a:solidFill>
            <a:srgbClr val="F4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59936"/>
            <a:ext cx="3108960" cy="457200"/>
          </a:xfrm>
          <a:prstGeom prst="rect">
            <a:avLst/>
          </a:prstGeom>
          <a:noFill/>
        </p:spPr>
        <p:txBody>
          <a:bodyPr wrap="square" anchor="t" lIns="0" rIns="0" tIns="0" bIns="0">
            <a:spAutoFit/>
          </a:bodyPr>
          <a:lstStyle/>
          <a:p>
            <a:pPr algn="l">
              <a:lnSpc>
                <a:spcPct val="118000"/>
              </a:lnSpc>
              <a:spcAft>
                <a:spcPts val="1000"/>
              </a:spcAft>
            </a:pPr>
            <a:r>
              <a:rPr sz="1700" i="0" b="0">
                <a:solidFill>
                  <a:srgbClr val="1A1A1A"/>
                </a:solidFill>
                <a:latin typeface="Calibri"/>
              </a:rPr>
              <a:t>antennal lobe</a:t>
            </a:r>
          </a:p>
        </p:txBody>
      </p:sp>
      <p:sp>
        <p:nvSpPr>
          <p:cNvPr id="20" name="TextBox 19"/>
          <p:cNvSpPr txBox="1"/>
          <p:nvPr/>
        </p:nvSpPr>
        <p:spPr>
          <a:xfrm>
            <a:off x="4041648" y="4059936"/>
            <a:ext cx="2286000" cy="457200"/>
          </a:xfrm>
          <a:prstGeom prst="rect">
            <a:avLst/>
          </a:prstGeom>
          <a:noFill/>
        </p:spPr>
        <p:txBody>
          <a:bodyPr wrap="square" anchor="t" lIns="0" rIns="0" tIns="0" bIns="0">
            <a:spAutoFit/>
          </a:bodyPr>
          <a:lstStyle/>
          <a:p>
            <a:pPr algn="ctr">
              <a:lnSpc>
                <a:spcPct val="118000"/>
              </a:lnSpc>
              <a:spcAft>
                <a:spcPts val="1000"/>
              </a:spcAft>
            </a:pPr>
            <a:r>
              <a:rPr sz="1900" i="0" b="1">
                <a:solidFill>
                  <a:srgbClr val="B61918"/>
                </a:solidFill>
                <a:latin typeface="Calibri"/>
              </a:rPr>
              <a:t>20</a:t>
            </a:r>
          </a:p>
        </p:txBody>
      </p:sp>
      <p:sp>
        <p:nvSpPr>
          <p:cNvPr id="21" name="TextBox 20"/>
          <p:cNvSpPr txBox="1"/>
          <p:nvPr/>
        </p:nvSpPr>
        <p:spPr>
          <a:xfrm>
            <a:off x="6327648" y="4059936"/>
            <a:ext cx="2286000" cy="457200"/>
          </a:xfrm>
          <a:prstGeom prst="rect">
            <a:avLst/>
          </a:prstGeom>
          <a:noFill/>
        </p:spPr>
        <p:txBody>
          <a:bodyPr wrap="square" anchor="t" lIns="0" rIns="0" tIns="0" bIns="0">
            <a:spAutoFit/>
          </a:bodyPr>
          <a:lstStyle/>
          <a:p>
            <a:pPr algn="ctr">
              <a:lnSpc>
                <a:spcPct val="118000"/>
              </a:lnSpc>
              <a:spcAft>
                <a:spcPts val="1000"/>
              </a:spcAft>
            </a:pPr>
            <a:r>
              <a:rPr sz="1900" i="0" b="1">
                <a:solidFill>
                  <a:srgbClr val="B61918"/>
                </a:solidFill>
                <a:latin typeface="Calibri"/>
              </a:rPr>
              <a:t>4</a:t>
            </a:r>
          </a:p>
        </p:txBody>
      </p:sp>
      <p:sp>
        <p:nvSpPr>
          <p:cNvPr id="22" name="TextBox 21"/>
          <p:cNvSpPr txBox="1"/>
          <p:nvPr/>
        </p:nvSpPr>
        <p:spPr>
          <a:xfrm>
            <a:off x="932688" y="4626864"/>
            <a:ext cx="3108960" cy="457200"/>
          </a:xfrm>
          <a:prstGeom prst="rect">
            <a:avLst/>
          </a:prstGeom>
          <a:noFill/>
        </p:spPr>
        <p:txBody>
          <a:bodyPr wrap="square" anchor="t" lIns="0" rIns="0" tIns="0" bIns="0">
            <a:spAutoFit/>
          </a:bodyPr>
          <a:lstStyle/>
          <a:p>
            <a:pPr algn="l">
              <a:lnSpc>
                <a:spcPct val="118000"/>
              </a:lnSpc>
              <a:spcAft>
                <a:spcPts val="1000"/>
              </a:spcAft>
            </a:pPr>
            <a:r>
              <a:rPr sz="1700" i="0" b="0">
                <a:solidFill>
                  <a:srgbClr val="1A1A1A"/>
                </a:solidFill>
                <a:latin typeface="Calibri"/>
              </a:rPr>
              <a:t>antennal lobe → posterior lateral</a:t>
            </a:r>
          </a:p>
        </p:txBody>
      </p:sp>
      <p:sp>
        <p:nvSpPr>
          <p:cNvPr id="23" name="TextBox 22"/>
          <p:cNvSpPr txBox="1"/>
          <p:nvPr/>
        </p:nvSpPr>
        <p:spPr>
          <a:xfrm>
            <a:off x="4041648" y="4626864"/>
            <a:ext cx="2286000" cy="457200"/>
          </a:xfrm>
          <a:prstGeom prst="rect">
            <a:avLst/>
          </a:prstGeom>
          <a:noFill/>
        </p:spPr>
        <p:txBody>
          <a:bodyPr wrap="square" anchor="t" lIns="0" rIns="0" tIns="0" bIns="0">
            <a:spAutoFit/>
          </a:bodyPr>
          <a:lstStyle/>
          <a:p>
            <a:pPr algn="ctr">
              <a:lnSpc>
                <a:spcPct val="118000"/>
              </a:lnSpc>
              <a:spcAft>
                <a:spcPts val="1000"/>
              </a:spcAft>
            </a:pPr>
            <a:r>
              <a:rPr sz="1900" i="0" b="1">
                <a:solidFill>
                  <a:srgbClr val="B61918"/>
                </a:solidFill>
                <a:latin typeface="Calibri"/>
              </a:rPr>
              <a:t>50</a:t>
            </a:r>
          </a:p>
        </p:txBody>
      </p:sp>
      <p:sp>
        <p:nvSpPr>
          <p:cNvPr id="24" name="TextBox 23"/>
          <p:cNvSpPr txBox="1"/>
          <p:nvPr/>
        </p:nvSpPr>
        <p:spPr>
          <a:xfrm>
            <a:off x="6327648" y="4626864"/>
            <a:ext cx="2286000" cy="457200"/>
          </a:xfrm>
          <a:prstGeom prst="rect">
            <a:avLst/>
          </a:prstGeom>
          <a:noFill/>
        </p:spPr>
        <p:txBody>
          <a:bodyPr wrap="square" anchor="t" lIns="0" rIns="0" tIns="0" bIns="0">
            <a:spAutoFit/>
          </a:bodyPr>
          <a:lstStyle/>
          <a:p>
            <a:pPr algn="ctr">
              <a:lnSpc>
                <a:spcPct val="118000"/>
              </a:lnSpc>
              <a:spcAft>
                <a:spcPts val="1000"/>
              </a:spcAft>
            </a:pPr>
            <a:r>
              <a:rPr sz="1900" i="0" b="1">
                <a:solidFill>
                  <a:srgbClr val="B61918"/>
                </a:solidFill>
                <a:latin typeface="Calibri"/>
              </a:rPr>
              <a:t>8</a:t>
            </a:r>
          </a:p>
        </p:txBody>
      </p:sp>
      <p:sp>
        <p:nvSpPr>
          <p:cNvPr id="25" name="TextBox 24"/>
          <p:cNvSpPr txBox="1"/>
          <p:nvPr/>
        </p:nvSpPr>
        <p:spPr>
          <a:xfrm>
            <a:off x="658368" y="5623560"/>
            <a:ext cx="10874959" cy="822960"/>
          </a:xfrm>
          <a:prstGeom prst="rect">
            <a:avLst/>
          </a:prstGeom>
          <a:noFill/>
        </p:spPr>
        <p:txBody>
          <a:bodyPr wrap="square" anchor="t" lIns="0" rIns="0" tIns="0" bIns="0">
            <a:spAutoFit/>
          </a:bodyPr>
          <a:lstStyle/>
          <a:p>
            <a:pPr algn="l">
              <a:lnSpc>
                <a:spcPct val="118000"/>
              </a:lnSpc>
              <a:spcAft>
                <a:spcPts val="1000"/>
              </a:spcAft>
            </a:pPr>
            <a:r>
              <a:rPr sz="1700" i="0" b="0">
                <a:solidFill>
                  <a:srgbClr val="555D66"/>
                </a:solidFill>
                <a:latin typeface="Calibri"/>
              </a:rPr>
              <a:t>Across all regions the agreement is </a:t>
            </a:r>
            <a:r>
              <a:rPr sz="1700" i="0" b="1">
                <a:solidFill>
                  <a:srgbClr val="B61918"/>
                </a:solidFill>
                <a:latin typeface="Calibri"/>
              </a:rPr>
              <a:t>weak</a:t>
            </a:r>
            <a:r>
              <a:rPr sz="1700" i="0" b="0">
                <a:solidFill>
                  <a:srgbClr val="555D66"/>
                </a:solidFill>
                <a:latin typeface="Calibri"/>
              </a:rPr>
              <a:t> (ρ = +0.121), so the two measures are not interchangeable. But where they agree, they agree on the circuit that comes next.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731520"/>
          </a:xfrm>
          <a:prstGeom prst="rect">
            <a:avLst/>
          </a:prstGeom>
          <a:noFill/>
        </p:spPr>
        <p:txBody>
          <a:bodyPr wrap="square" anchor="t" lIns="0" rIns="0" tIns="0" bIns="0">
            <a:spAutoFit/>
          </a:bodyPr>
          <a:lstStyle/>
          <a:p>
            <a:pPr algn="l">
              <a:lnSpc>
                <a:spcPct val="118000"/>
              </a:lnSpc>
              <a:spcAft>
                <a:spcPts val="1000"/>
              </a:spcAft>
            </a:pPr>
            <a:r>
              <a:rPr sz="3000" i="0" b="1">
                <a:solidFill>
                  <a:srgbClr val="B61918"/>
                </a:solidFill>
                <a:latin typeface="Calibri"/>
              </a:rPr>
              <a:t>Wiring alone recovers the olfactory pathway</a:t>
            </a:r>
          </a:p>
        </p:txBody>
      </p:sp>
      <p:sp>
        <p:nvSpPr>
          <p:cNvPr id="3" name="Rectangle 2"/>
          <p:cNvSpPr/>
          <p:nvPr/>
        </p:nvSpPr>
        <p:spPr>
          <a:xfrm>
            <a:off x="658368" y="1207008"/>
            <a:ext cx="2194560" cy="411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2852928" y="1207008"/>
            <a:ext cx="8680399" cy="41148"/>
          </a:xfrm>
          <a:prstGeom prst="rect">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36047" y="6291072"/>
            <a:ext cx="1097280" cy="320040"/>
          </a:xfrm>
          <a:prstGeom prst="rect">
            <a:avLst/>
          </a:prstGeom>
          <a:noFill/>
        </p:spPr>
        <p:txBody>
          <a:bodyPr wrap="square" anchor="t" lIns="0" rIns="0" tIns="0" bIns="0">
            <a:spAutoFit/>
          </a:bodyPr>
          <a:lstStyle/>
          <a:p>
            <a:pPr algn="r">
              <a:lnSpc>
                <a:spcPct val="118000"/>
              </a:lnSpc>
              <a:spcAft>
                <a:spcPts val="1000"/>
              </a:spcAft>
            </a:pPr>
            <a:r>
              <a:rPr sz="1200" i="0" b="0">
                <a:solidFill>
                  <a:srgbClr val="9E9E9D"/>
                </a:solidFill>
                <a:latin typeface="Calibri"/>
              </a:rPr>
              <a:t>7</a:t>
            </a:r>
          </a:p>
        </p:txBody>
      </p:sp>
      <p:pic>
        <p:nvPicPr>
          <p:cNvPr id="6" name="Picture 5" descr="olfactory_slide.png"/>
          <p:cNvPicPr>
            <a:picLocks noChangeAspect="1"/>
          </p:cNvPicPr>
          <p:nvPr/>
        </p:nvPicPr>
        <p:blipFill>
          <a:blip r:embed="rId2"/>
          <a:stretch>
            <a:fillRect/>
          </a:stretch>
        </p:blipFill>
        <p:spPr>
          <a:xfrm>
            <a:off x="658368" y="1645920"/>
            <a:ext cx="6252818" cy="3977639"/>
          </a:xfrm>
          <a:prstGeom prst="rect">
            <a:avLst/>
          </a:prstGeom>
        </p:spPr>
      </p:pic>
      <p:sp>
        <p:nvSpPr>
          <p:cNvPr id="7" name="TextBox 6"/>
          <p:cNvSpPr txBox="1"/>
          <p:nvPr/>
        </p:nvSpPr>
        <p:spPr>
          <a:xfrm>
            <a:off x="7414106" y="1463040"/>
            <a:ext cx="4119220" cy="4389120"/>
          </a:xfrm>
          <a:prstGeom prst="rect">
            <a:avLst/>
          </a:prstGeom>
          <a:noFill/>
        </p:spPr>
        <p:txBody>
          <a:bodyPr wrap="square" anchor="t" lIns="0" rIns="0" tIns="0" bIns="0">
            <a:spAutoFit/>
          </a:bodyPr>
          <a:lstStyle/>
          <a:p>
            <a:pPr algn="l">
              <a:lnSpc>
                <a:spcPct val="118000"/>
              </a:lnSpc>
              <a:spcAft>
                <a:spcPts val="2200"/>
              </a:spcAft>
            </a:pPr>
            <a:r>
              <a:rPr sz="1800" i="0" b="1">
                <a:solidFill>
                  <a:srgbClr val="B61918"/>
                </a:solidFill>
                <a:latin typeface="Calibri"/>
              </a:rPr>
              <a:t>Why this circuit:</a:t>
            </a:r>
            <a:r>
              <a:rPr sz="1800" i="0" b="0">
                <a:solidFill>
                  <a:srgbClr val="1A1A1A"/>
                </a:solidFill>
                <a:latin typeface="Calibri"/>
              </a:rPr>
              <a:t> it is the one whose answer was already known from physiology — so it is a test I could fail.</a:t>
            </a:r>
          </a:p>
          <a:p>
            <a:pPr algn="l">
              <a:lnSpc>
                <a:spcPct val="118000"/>
              </a:lnSpc>
              <a:spcAft>
                <a:spcPts val="2200"/>
              </a:spcAft>
            </a:pPr>
            <a:r>
              <a:rPr sz="1800" i="0" b="0">
                <a:solidFill>
                  <a:srgbClr val="1A1A1A"/>
                </a:solidFill>
                <a:latin typeface="Calibri"/>
              </a:rPr>
              <a:t>An index, </a:t>
            </a:r>
            <a:r>
              <a:rPr sz="1800" i="0" b="1">
                <a:solidFill>
                  <a:srgbClr val="B61918"/>
                </a:solidFill>
                <a:latin typeface="Calibri"/>
              </a:rPr>
              <a:t>negative</a:t>
            </a:r>
            <a:r>
              <a:rPr sz="1800" i="0" b="0">
                <a:solidFill>
                  <a:srgbClr val="1A1A1A"/>
                </a:solidFill>
                <a:latin typeface="Calibri"/>
              </a:rPr>
              <a:t> when a circuit fans out and </a:t>
            </a:r>
            <a:r>
              <a:rPr sz="1800" i="0" b="1">
                <a:solidFill>
                  <a:srgbClr val="B61918"/>
                </a:solidFill>
                <a:latin typeface="Calibri"/>
              </a:rPr>
              <a:t>positive</a:t>
            </a:r>
            <a:r>
              <a:rPr sz="1800" i="0" b="0">
                <a:solidFill>
                  <a:srgbClr val="1A1A1A"/>
                </a:solidFill>
                <a:latin typeface="Calibri"/>
              </a:rPr>
              <a:t> when it funnels in, computed from the </a:t>
            </a:r>
            <a:r>
              <a:rPr sz="1800" i="0" b="1">
                <a:solidFill>
                  <a:srgbClr val="B61918"/>
                </a:solidFill>
                <a:latin typeface="Calibri"/>
              </a:rPr>
              <a:t>wiring only</a:t>
            </a:r>
            <a:r>
              <a:rPr sz="1800" i="0" b="0">
                <a:solidFill>
                  <a:srgbClr val="1A1A1A"/>
                </a:solidFill>
                <a:latin typeface="Calibri"/>
              </a:rPr>
              <a:t>.</a:t>
            </a:r>
          </a:p>
          <a:p>
            <a:pPr algn="l">
              <a:lnSpc>
                <a:spcPct val="118000"/>
              </a:lnSpc>
              <a:spcAft>
                <a:spcPts val="2600"/>
              </a:spcAft>
            </a:pPr>
            <a:r>
              <a:rPr sz="1800" i="0" b="0">
                <a:solidFill>
                  <a:srgbClr val="1A1A1A"/>
                </a:solidFill>
                <a:latin typeface="Calibri"/>
              </a:rPr>
              <a:t>The five rows were chosen by anatomy, </a:t>
            </a:r>
            <a:r>
              <a:rPr sz="1800" i="0" b="1">
                <a:solidFill>
                  <a:srgbClr val="B61918"/>
                </a:solidFill>
                <a:latin typeface="Calibri"/>
              </a:rPr>
              <a:t>before</a:t>
            </a:r>
            <a:r>
              <a:rPr sz="1800" i="0" b="0">
                <a:solidFill>
                  <a:srgbClr val="1A1A1A"/>
                </a:solidFill>
                <a:latin typeface="Calibri"/>
              </a:rPr>
              <a:t> looking at any numbers.</a:t>
            </a:r>
          </a:p>
          <a:p>
            <a:pPr algn="l">
              <a:lnSpc>
                <a:spcPct val="118000"/>
              </a:lnSpc>
              <a:spcAft>
                <a:spcPts val="400"/>
              </a:spcAft>
            </a:pPr>
            <a:r>
              <a:rPr sz="2300" i="0" b="1">
                <a:solidFill>
                  <a:srgbClr val="B61918"/>
                </a:solidFill>
                <a:latin typeface="Calibri"/>
              </a:rPr>
              <a:t>–0.895  →  +0.061  →  +1.000</a:t>
            </a:r>
          </a:p>
          <a:p>
            <a:pPr algn="l">
              <a:lnSpc>
                <a:spcPct val="118000"/>
              </a:lnSpc>
              <a:spcAft>
                <a:spcPts val="1000"/>
              </a:spcAft>
            </a:pPr>
            <a:r>
              <a:rPr sz="1600" i="0" b="0">
                <a:solidFill>
                  <a:srgbClr val="555D66"/>
                </a:solidFill>
                <a:latin typeface="Calibri"/>
              </a:rPr>
              <a:t>fans out, holds, funnels in — in that order</a:t>
            </a:r>
          </a:p>
        </p:txBody>
      </p:sp>
      <p:sp>
        <p:nvSpPr>
          <p:cNvPr id="8" name="TextBox 7"/>
          <p:cNvSpPr txBox="1"/>
          <p:nvPr/>
        </p:nvSpPr>
        <p:spPr>
          <a:xfrm>
            <a:off x="658368" y="5961888"/>
            <a:ext cx="9960559" cy="548640"/>
          </a:xfrm>
          <a:prstGeom prst="rect">
            <a:avLst/>
          </a:prstGeom>
          <a:noFill/>
        </p:spPr>
        <p:txBody>
          <a:bodyPr wrap="square" anchor="t" lIns="0" rIns="0" tIns="0" bIns="0">
            <a:spAutoFit/>
          </a:bodyPr>
          <a:lstStyle/>
          <a:p>
            <a:pPr algn="l">
              <a:lnSpc>
                <a:spcPct val="118000"/>
              </a:lnSpc>
              <a:spcAft>
                <a:spcPts val="1000"/>
              </a:spcAft>
            </a:pPr>
            <a:r>
              <a:rPr sz="1450" i="1" b="0">
                <a:solidFill>
                  <a:srgbClr val="555D66"/>
                </a:solidFill>
                <a:latin typeface="Calibri"/>
              </a:rPr>
              <a:t>It is the same shape as a high-dimensional expansion followed by a readout — but the comparison with artificial neural networks is a reading, not a result of the thesis.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74959" cy="731520"/>
          </a:xfrm>
          <a:prstGeom prst="rect">
            <a:avLst/>
          </a:prstGeom>
          <a:noFill/>
        </p:spPr>
        <p:txBody>
          <a:bodyPr wrap="square" anchor="t" lIns="0" rIns="0" tIns="0" bIns="0">
            <a:spAutoFit/>
          </a:bodyPr>
          <a:lstStyle/>
          <a:p>
            <a:pPr algn="l">
              <a:lnSpc>
                <a:spcPct val="118000"/>
              </a:lnSpc>
              <a:spcAft>
                <a:spcPts val="1000"/>
              </a:spcAft>
            </a:pPr>
            <a:r>
              <a:rPr sz="3000" i="0" b="1">
                <a:solidFill>
                  <a:srgbClr val="B61918"/>
                </a:solidFill>
                <a:latin typeface="Calibri"/>
              </a:rPr>
              <a:t>Conclusions and future work</a:t>
            </a:r>
          </a:p>
        </p:txBody>
      </p:sp>
      <p:sp>
        <p:nvSpPr>
          <p:cNvPr id="3" name="Rectangle 2"/>
          <p:cNvSpPr/>
          <p:nvPr/>
        </p:nvSpPr>
        <p:spPr>
          <a:xfrm>
            <a:off x="658368" y="1207008"/>
            <a:ext cx="2194560" cy="41148"/>
          </a:xfrm>
          <a:prstGeom prst="rect">
            <a:avLst/>
          </a:prstGeom>
          <a:solidFill>
            <a:srgbClr val="B619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2852928" y="1207008"/>
            <a:ext cx="8680399" cy="41148"/>
          </a:xfrm>
          <a:prstGeom prst="rect">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436047" y="6291072"/>
            <a:ext cx="1097280" cy="320040"/>
          </a:xfrm>
          <a:prstGeom prst="rect">
            <a:avLst/>
          </a:prstGeom>
          <a:noFill/>
        </p:spPr>
        <p:txBody>
          <a:bodyPr wrap="square" anchor="t" lIns="0" rIns="0" tIns="0" bIns="0">
            <a:spAutoFit/>
          </a:bodyPr>
          <a:lstStyle/>
          <a:p>
            <a:pPr algn="r">
              <a:lnSpc>
                <a:spcPct val="118000"/>
              </a:lnSpc>
              <a:spcAft>
                <a:spcPts val="1000"/>
              </a:spcAft>
            </a:pPr>
            <a:r>
              <a:rPr sz="1200" i="0" b="0">
                <a:solidFill>
                  <a:srgbClr val="9E9E9D"/>
                </a:solidFill>
                <a:latin typeface="Calibri"/>
              </a:rPr>
              <a:t>8</a:t>
            </a:r>
          </a:p>
        </p:txBody>
      </p:sp>
      <p:sp>
        <p:nvSpPr>
          <p:cNvPr id="6" name="TextBox 5"/>
          <p:cNvSpPr txBox="1"/>
          <p:nvPr/>
        </p:nvSpPr>
        <p:spPr>
          <a:xfrm>
            <a:off x="658368" y="1444752"/>
            <a:ext cx="6035040" cy="4572000"/>
          </a:xfrm>
          <a:prstGeom prst="rect">
            <a:avLst/>
          </a:prstGeom>
          <a:noFill/>
        </p:spPr>
        <p:txBody>
          <a:bodyPr wrap="square" anchor="t" lIns="0" rIns="0" tIns="0" bIns="0">
            <a:spAutoFit/>
          </a:bodyPr>
          <a:lstStyle/>
          <a:p>
            <a:pPr algn="l">
              <a:lnSpc>
                <a:spcPct val="118000"/>
              </a:lnSpc>
              <a:spcAft>
                <a:spcPts val="1800"/>
              </a:spcAft>
            </a:pPr>
            <a:r>
              <a:rPr sz="2300" i="0" b="1">
                <a:solidFill>
                  <a:srgbClr val="B61918"/>
                </a:solidFill>
                <a:latin typeface="Calibri"/>
              </a:rPr>
              <a:t>What was found</a:t>
            </a:r>
          </a:p>
          <a:p>
            <a:pPr algn="l">
              <a:lnSpc>
                <a:spcPct val="118000"/>
              </a:lnSpc>
              <a:spcAft>
                <a:spcPts val="2000"/>
              </a:spcAft>
            </a:pPr>
            <a:r>
              <a:rPr sz="1900" i="0" b="0">
                <a:solidFill>
                  <a:srgbClr val="1A1A1A"/>
                </a:solidFill>
                <a:latin typeface="Calibri"/>
              </a:rPr>
              <a:t>•   The hourglass is there, but how narrow it looks </a:t>
            </a:r>
            <a:r>
              <a:rPr sz="1900" i="0" b="1">
                <a:solidFill>
                  <a:srgbClr val="B61918"/>
                </a:solidFill>
                <a:latin typeface="Calibri"/>
              </a:rPr>
              <a:t>depends on how you trace the routes</a:t>
            </a:r>
            <a:r>
              <a:rPr sz="1900" i="0" b="0">
                <a:solidFill>
                  <a:srgbClr val="1A1A1A"/>
                </a:solidFill>
                <a:latin typeface="Calibri"/>
              </a:rPr>
              <a:t>: 0.247 to 0.498.</a:t>
            </a:r>
          </a:p>
          <a:p>
            <a:pPr algn="l">
              <a:lnSpc>
                <a:spcPct val="118000"/>
              </a:lnSpc>
              <a:spcAft>
                <a:spcPts val="2000"/>
              </a:spcAft>
            </a:pPr>
            <a:r>
              <a:rPr sz="1900" i="0" b="0">
                <a:solidFill>
                  <a:srgbClr val="1A1A1A"/>
                </a:solidFill>
                <a:latin typeface="Calibri"/>
              </a:rPr>
              <a:t>•   Deep in the brain the signal </a:t>
            </a:r>
            <a:r>
              <a:rPr sz="1900" i="0" b="1">
                <a:solidFill>
                  <a:srgbClr val="B61918"/>
                </a:solidFill>
                <a:latin typeface="Calibri"/>
              </a:rPr>
              <a:t>stops advancing</a:t>
            </a:r>
            <a:r>
              <a:rPr sz="1900" i="0" b="0">
                <a:solidFill>
                  <a:srgbClr val="1A1A1A"/>
                </a:solidFill>
                <a:latin typeface="Calibri"/>
              </a:rPr>
              <a:t> and is stirred instead: 38.0% → 82.6%.</a:t>
            </a:r>
          </a:p>
          <a:p>
            <a:pPr algn="l">
              <a:lnSpc>
                <a:spcPct val="118000"/>
              </a:lnSpc>
              <a:spcAft>
                <a:spcPts val="2000"/>
              </a:spcAft>
            </a:pPr>
            <a:r>
              <a:rPr sz="1900" i="0" b="0">
                <a:solidFill>
                  <a:srgbClr val="1A1A1A"/>
                </a:solidFill>
                <a:latin typeface="Calibri"/>
              </a:rPr>
              <a:t>•   An index built from </a:t>
            </a:r>
            <a:r>
              <a:rPr sz="1900" i="0" b="1">
                <a:solidFill>
                  <a:srgbClr val="B61918"/>
                </a:solidFill>
                <a:latin typeface="Calibri"/>
              </a:rPr>
              <a:t>wiring alone</a:t>
            </a:r>
            <a:r>
              <a:rPr sz="1900" i="0" b="0">
                <a:solidFill>
                  <a:srgbClr val="1A1A1A"/>
                </a:solidFill>
                <a:latin typeface="Calibri"/>
              </a:rPr>
              <a:t> recovers a circuit already known from physiology.</a:t>
            </a:r>
          </a:p>
          <a:p>
            <a:pPr algn="l">
              <a:lnSpc>
                <a:spcPct val="118000"/>
              </a:lnSpc>
              <a:spcAft>
                <a:spcPts val="1000"/>
              </a:spcAft>
            </a:pPr>
            <a:r>
              <a:rPr sz="1900" i="0" b="0">
                <a:solidFill>
                  <a:srgbClr val="555D66"/>
                </a:solidFill>
                <a:latin typeface="Calibri"/>
              </a:rPr>
              <a:t>•   Whether a connection's direction predicts its chemistry was also tested: it </a:t>
            </a:r>
            <a:r>
              <a:rPr sz="1900" i="0" b="1">
                <a:solidFill>
                  <a:srgbClr val="B61918"/>
                </a:solidFill>
                <a:latin typeface="Calibri"/>
              </a:rPr>
              <a:t>does not hold up</a:t>
            </a:r>
            <a:r>
              <a:rPr sz="1900" i="0" b="0">
                <a:solidFill>
                  <a:srgbClr val="555D66"/>
                </a:solidFill>
                <a:latin typeface="Calibri"/>
              </a:rPr>
              <a:t>, and is reported as a negative result.</a:t>
            </a:r>
          </a:p>
        </p:txBody>
      </p:sp>
      <p:sp>
        <p:nvSpPr>
          <p:cNvPr id="7" name="Rectangle 6"/>
          <p:cNvSpPr/>
          <p:nvPr/>
        </p:nvSpPr>
        <p:spPr>
          <a:xfrm>
            <a:off x="7059168" y="1444752"/>
            <a:ext cx="18288" cy="4480560"/>
          </a:xfrm>
          <a:prstGeom prst="rect">
            <a:avLst/>
          </a:prstGeom>
          <a:solidFill>
            <a:srgbClr val="E2E0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70648" y="1444752"/>
            <a:ext cx="4062679" cy="4572000"/>
          </a:xfrm>
          <a:prstGeom prst="rect">
            <a:avLst/>
          </a:prstGeom>
          <a:noFill/>
        </p:spPr>
        <p:txBody>
          <a:bodyPr wrap="square" anchor="t" lIns="0" rIns="0" tIns="0" bIns="0">
            <a:spAutoFit/>
          </a:bodyPr>
          <a:lstStyle/>
          <a:p>
            <a:pPr algn="l">
              <a:lnSpc>
                <a:spcPct val="118000"/>
              </a:lnSpc>
              <a:spcAft>
                <a:spcPts val="1800"/>
              </a:spcAft>
            </a:pPr>
            <a:r>
              <a:rPr sz="2300" i="0" b="1">
                <a:solidFill>
                  <a:srgbClr val="B61918"/>
                </a:solidFill>
                <a:latin typeface="Calibri"/>
              </a:rPr>
              <a:t>Future work</a:t>
            </a:r>
          </a:p>
          <a:p>
            <a:pPr algn="l">
              <a:lnSpc>
                <a:spcPct val="118000"/>
              </a:lnSpc>
              <a:spcAft>
                <a:spcPts val="2000"/>
              </a:spcAft>
            </a:pPr>
            <a:r>
              <a:rPr sz="1900" i="0" b="0">
                <a:solidFill>
                  <a:srgbClr val="1A1A1A"/>
                </a:solidFill>
                <a:latin typeface="Calibri"/>
              </a:rPr>
              <a:t>•   Repeat the analyses on the </a:t>
            </a:r>
            <a:r>
              <a:rPr sz="1900" i="0" b="1">
                <a:solidFill>
                  <a:srgbClr val="B61918"/>
                </a:solidFill>
                <a:latin typeface="Calibri"/>
              </a:rPr>
              <a:t>deep</a:t>
            </a:r>
            <a:r>
              <a:rPr sz="1900" i="0" b="0">
                <a:solidFill>
                  <a:srgbClr val="1A1A1A"/>
                </a:solidFill>
                <a:latin typeface="Calibri"/>
              </a:rPr>
              <a:t> part of the brain, not only the shallow one.</a:t>
            </a:r>
          </a:p>
          <a:p>
            <a:pPr algn="l">
              <a:lnSpc>
                <a:spcPct val="118000"/>
              </a:lnSpc>
              <a:spcAft>
                <a:spcPts val="2000"/>
              </a:spcAft>
            </a:pPr>
            <a:r>
              <a:rPr sz="1900" i="0" b="0">
                <a:solidFill>
                  <a:srgbClr val="1A1A1A"/>
                </a:solidFill>
                <a:latin typeface="Calibri"/>
              </a:rPr>
              <a:t>•   Let the motif shape vary </a:t>
            </a:r>
            <a:r>
              <a:rPr sz="1900" i="0" b="1">
                <a:solidFill>
                  <a:srgbClr val="B61918"/>
                </a:solidFill>
                <a:latin typeface="Calibri"/>
              </a:rPr>
              <a:t>across the whole network</a:t>
            </a:r>
            <a:r>
              <a:rPr sz="1900" i="0" b="0">
                <a:solidFill>
                  <a:srgbClr val="1A1A1A"/>
                </a:solidFill>
                <a:latin typeface="Calibri"/>
              </a:rPr>
              <a:t>, not only on the olfactory pathway.</a:t>
            </a:r>
          </a:p>
          <a:p>
            <a:pPr algn="l">
              <a:lnSpc>
                <a:spcPct val="118000"/>
              </a:lnSpc>
              <a:spcAft>
                <a:spcPts val="1000"/>
              </a:spcAft>
            </a:pPr>
            <a:r>
              <a:rPr sz="1900" i="0" b="0">
                <a:solidFill>
                  <a:srgbClr val="1A1A1A"/>
                </a:solidFill>
                <a:latin typeface="Calibri"/>
              </a:rPr>
              <a:t>•   Apply the same counting to </a:t>
            </a:r>
            <a:r>
              <a:rPr sz="1900" i="0" b="1">
                <a:solidFill>
                  <a:srgbClr val="B61918"/>
                </a:solidFill>
                <a:latin typeface="Calibri"/>
              </a:rPr>
              <a:t>other connectomes</a:t>
            </a:r>
            <a:r>
              <a:rPr sz="1900" i="0" b="0">
                <a:solidFill>
                  <a:srgbClr val="1A1A1A"/>
                </a:solidFill>
                <a:latin typeface="Calibri"/>
              </a:rPr>
              <a:t>: the method does not depend on the species.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